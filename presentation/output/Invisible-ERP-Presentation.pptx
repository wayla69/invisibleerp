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12191695" cy="6858000" type="screen4x3"/>
  <p:notesSz cx="6858000" cy="9144000"/>
  <p:embeddedFontLst>
    <p:embeddedFont>
      <p:font typeface="Kanit"/>
      <p:regular r:id="rIdF9001"/>
      <p:bold r:id="rIdF9002"/>
      <p:italic r:id="rIdF9003"/>
      <p:boldItalic r:id="rIdF9004"/>
    </p:embeddedFont>
    <p:embeddedFont>
      <p:font typeface="Sarabun"/>
      <p:regular r:id="rIdF9005"/>
      <p:bold r:id="rIdF900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F9001" Type="http://schemas.openxmlformats.org/officeDocument/2006/relationships/font" Target="fonts/font1_regular.fntdata"/><Relationship Id="rIdF9002" Type="http://schemas.openxmlformats.org/officeDocument/2006/relationships/font" Target="fonts/font1_bold.fntdata"/><Relationship Id="rIdF9003" Type="http://schemas.openxmlformats.org/officeDocument/2006/relationships/font" Target="fonts/font1_italic.fntdata"/><Relationship Id="rIdF9004" Type="http://schemas.openxmlformats.org/officeDocument/2006/relationships/font" Target="fonts/font1_boldItalic.fntdata"/><Relationship Id="rIdF9005" Type="http://schemas.openxmlformats.org/officeDocument/2006/relationships/font" Target="fonts/font2_regular.fntdata"/><Relationship Id="rIdF9006" Type="http://schemas.openxmlformats.org/officeDocument/2006/relationships/font" Target="fonts/font2_bold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-128016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141D38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0" y="283464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1B274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749808"/>
            <a:ext cx="2148840" cy="11264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2898648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761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ระบบบริหารธุรกิจอัจฉริยะครบวงจร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6324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006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แพลตฟอร์มบริหารธุรกิจครบวงจร — ERP · POS · CRM · Loyalty ในระบบเดียว ที่ออกแบบมาเพื่อการควบคุมภายในระดับบริษัทจดทะเบียน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500" b="0" i="1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ควบคุมแน่น · โปร่งใส · โลคัลไลซ์ไทยเต็มรูปแบบ · พร้อมมาตรฐานสากล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พัฒนาโดย </a:t>
            </a:r>
            <a:r>
              <a:rPr sz="110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04088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สารบัญ ·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สิ่งที่คุณจะได้เห็นในวันนี้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5623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83794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ภาพรวมระบบ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185415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สรุปภาพรวมและคุณค่าทางธุรกิจ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60903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4261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624327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สิ่งที่มีแต่ที่อื่นไม่มี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97179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จุดแตกต่างที่เป็นข้อได้เปรียบ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47287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2899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410711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ระบบความปลอดภัย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75818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ความปลอดภัย &amp; การควบคุมภายใน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33672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21538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970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โมดูลใน 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5445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ทุกโมดูลฝั่งหน้าร้าน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20056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017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4983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โมดูลใน ERP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53309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ทุกโมดูลฝั่งหลังบ้าน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881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57698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เจาะลึกแต่ละโมดูล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611733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รายละเอียดเชิงลึกทุกโมดูล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1874519"/>
            <a:ext cx="475488" cy="475488"/>
          </a:xfrm>
          <a:prstGeom prst="roundRect">
            <a:avLst>
              <a:gd name="adj" fmla="val 28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85623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183794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สิ่งที่ควรรู้เพิ่มเติม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2185415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การนำไปใช้ · รองรับ · ก้าวต่อไป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ภาพรวมระบบ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คืออะไร และสร้างคุณค่าให้ธุรกิจของคุณอย่างไร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 คืออะไร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ระบบบริหารธุรกิจครบวงจรบนสถาปัตยกรรมเดียว รวมงานหลังบ้าน (ERP), หน้าร้าน (POS/ร้านอาหาร), ลูกค้าสัมพันธ์ (CRM) และสมาชิก (Loyalty) — ออกแบบมาให้ 'มองไม่เห็นความยุ่งยาก' ผู้ใช้ทำงานลื่นไหล แต่เบื้องหลังคุมเข้มระดับ SOX/ICFR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แพลตฟอร์มเดียว ครบทุกวงจร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ตั้งแต่ขายหน้าร้าน → คลัง → จัดซื้อ → ผลิต → บัญชี → ปิดงบ → ภาษี — ไม่ต้องต่อหลายระบบ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6722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84932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โลคัลไลซ์ไทยเต็มรูปแบบ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VAT/WHT, ใบกำกับภาษี ม.86/4, e-Tax UBL 2.1, PromptPay, LINE OA, เขตเวลา Asia/Bangkok, สองภาษา TH/EN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8620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803904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Multi-tenant SaaS แยกข้อมูลระดับฐานข้อมูล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Postgres Row-Level Security — ข้อมูลแต่ละบริษัทแยกขาดจากกัน ไม่ใช่แค่ระดับแอป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051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72287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ควบคุมภายในระดับบริษัทจดทะเบียน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282 มาตรการควบคุม, maker-checker บังคับแม้ Admin, audit trail แก้ไม่ได้ — เตรียมเข้า NASDAQ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241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64184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ปรับแต่งได้แบบ no-code + AI ในตัว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custom fields/objects, workflow builder, LLM copilot ที่กั้นจาก GL และสืบทอดสิทธิ์อัตโนมัติ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 ในตัวเลข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ขนาดและความลึกของระบบที่สะท้อนความพร้อมระดับองค์กร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3464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โมดูลธุรกิจ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ครอบคลุมทุกวงจรงานในระบบเดียว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730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627" y="2834640"/>
            <a:ext cx="457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90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มาตรการควบคุม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278 Implemented · 0 Gap — ทดสอบอัตโนมัติทุก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7" y="2834640"/>
            <a:ext cx="457200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กฎแบ่งแยกหน้าที่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SoD R01–R23 ประเมินอัตโนมัติ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18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79508" y="2834640"/>
            <a:ext cx="457200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378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110+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1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ชุดทดสอบ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1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re-prove ทุก control ต่อเนื่อง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300" b="0" i="1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ทุกตัวเลขสร้างจากซอร์สโค้ดจริง (generated) และมี CI gate ห้าม 'overclaim' — ตัวเลขที่นำเสนอพิสูจน์ได้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หนึ่งแพลตฟอร์ม สี่ surface ทำงานร่วมกัน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ทั้งสี่ surface ใช้ข้อมูล สิทธิ์ และการควบคุมชุดเดียวกัน — ธุรกรรมหน้าร้านไหลเข้าบัญชีและ BI ทันที ไม่มีการ sync ระหว่างระบบ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/ หน้าร้าน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ขายหน้าร้าน, ร้านอาหาร (dine-in/KDS/บุฟเฟต์), ออฟไลน์ PWA, เดลิเวอรี — ลง GL อัตโนมัติแบบบาลานซ์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1965960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7104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185415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ERP / หลังบ้าน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752344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คลัง, จัดซื้อ, ผลิต, บัญชี, การเงิน, ภาษี, HR, โครงการ, งบประมาณ, BI — วงจรครบ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42815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462271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&amp; Loyalty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29199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pipeline/CPQ/บริการหลังการขาย + สมาชิก/แต้ม/แคมเปญ ผูก LINE OA และบัญชี GL จริง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4242815"/>
            <a:ext cx="5632704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47104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03136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62271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5029199"/>
            <a:ext cx="5129784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พอร์ทัลลูกค้า/สาขา/ผู้ขาย — dashboard, POS, สต๊อก auto-reorder, ติดตามออเดอร์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ภาพรวม · 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คุณค่าทางธุรกิจที่ลูกค้าได้รับ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ลดต้นทุนระบบซ้ำซ้อน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แทนที่ POS + บัญชี + CRM + คลัง หลายระบบด้วยแพลตฟอร์มเดียว ลดค่า license และค่าเชื่อมต่อ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กันทุจริตในตัว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maker-checker, SoD, blind-count, BEC defense — ลดความเสี่ยงการรั่วไหลของเงินและสต๊อก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ปิดงบเร็วขึ้น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Close Cockpit RAG, tie-out อัตโนมัติ, balanced-by-construction — ลดวันปิดงบ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ตัดสินใจด้วยข้อมูลสด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BI drill ลง ledger, live SSE KPI, demand forecast, NL analytics ภาษาไทย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พร้อมตรวจสอบ/ระดมทุน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RCM 282 controls, ISO/SOC2/PDPA-ready, audit trail แก้ไม่ได้ — เพิ่มความน่าเชื่อถือ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เติบโตได้ไม่ติดเพดาน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หลายสาขา/หลายบริษัท/หลาย GAAP/หลายสกุลเงิน + API เปิด — ขยายธุรกิจได้ทันที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ภาพรวมระบบ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 Invisible มี แต่คนอื่นไม่มี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จุดแตกต่างที่ไม่ใช่แค่ feature — แต่เป็นข้อได้เปรียบเชิงโครงสร้างที่คู่แข่งลอกยาก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จุดต่าง ·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9 จุดแตกต่างที่หาไม่ได้จากที่อื่น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13380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สมุดภาษี hash-chain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fiscal journal แบบ cryptographic hash chain ตามข้อกำหนดสรรพากร — แก้แถวเก่า hash ทุกแถวถัดไปพัง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1338071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maker-checker ผูกแม้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แม้ผู้ดูแลระบบก็ approve งานตัวเองไม่ได้ ทุกจุดสัมผัสเงิน — ไม่ใช่แค่ role flag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13380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งบบังคับได้จริง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encumbrance gate หยุด PR/PO เกินงบที่ approval + BoQ commitment concurrency-safe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31463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3331463"/>
            <a:ext cx="82296" cy="1338071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5692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50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550919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กั้นจาก GL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117847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LLM copilot ใช้ code path เดียวกับแอป สืบทอดสิทธิ์ + propose→approve เท่านั้น แตะบัญชีตรงไม่ได้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3331463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3331463"/>
            <a:ext cx="82296" cy="13380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35692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3550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3550919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Multi-GAAP + IFRS 9/15/16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117847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parallel ledger TFRS/TAX/IFRS + งบรวม dual-rate/CTA + rev-rec 5-step + lease + ตราสารการเงิน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3331463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3331463"/>
            <a:ext cx="82296" cy="13380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35692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355091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3550919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ออฟไลน์ที่ทำงานจริง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117847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PWA ขายต่อได้ทั้ง quick-sale &amp; dine-in ขณะเน็ตล่ม + LAN hub replay exactly-once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925567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" y="4925567"/>
            <a:ext cx="82296" cy="13380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4400" y="51633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1450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5145023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แต้ม = หนี้สินที่ลงบัญชี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5711951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loyalty ผูก GL 2250 ด้วย TFRS-15 + coalition intercompany clearing atomic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84191" y="4925567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84191" y="4925567"/>
            <a:ext cx="82296" cy="1338071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40224" y="51633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0224" y="51450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07152" y="5145023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LINE-native ครบวงจร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8511" y="5711951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สั่งซื้อ/อนุมัติ/รับของ/สมาชิก/copilot ผ่าน LINE โดยการควบคุมไม่หาย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10016" y="4925567"/>
            <a:ext cx="3669791" cy="13380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10016" y="4925567"/>
            <a:ext cx="82296" cy="1338071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766048" y="51633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66048" y="51450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32976" y="5145023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ควบคุมที่ทดสอบตัวเอง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84336" y="5711951"/>
            <a:ext cx="3166871" cy="4236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282 controls ที่ 98% มี ToE harness รันทุก deploy + golden-master gate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สิ่งที่มีแต่ที่อื่นไม่มี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จุดต่าง ·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Invisible ERP เทียบกับ ERP ทั่วไป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72216" cy="603504"/>
          </a:xfrm>
          <a:prstGeom prst="roundRect">
            <a:avLst>
              <a:gd name="adj" fmla="val 8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42976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ความสามารถ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783080"/>
            <a:ext cx="31546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● </a:t>
            </a:r>
            <a:r>
              <a:rPr sz="13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Invisible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1783080"/>
            <a:ext cx="3145536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B7CA0"/>
                </a:solidFill>
                <a:latin typeface="Kanit"/>
                <a:ea typeface="Kanit"/>
                <a:cs typeface="Kanit"/>
              </a:rPr>
              <a:t>ERP ทั่วไป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59736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59736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การแยกข้อมูลหลายบริษัท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459736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Postgres RLS ระดับ DB + fail-closed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459736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WHERE clause ระดับแอป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90088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9008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การควบคุมภายใน (SOX/ICFR)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990088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282 controls + ToE รันทุก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990088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เอกสาร narrative นิ่ง 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0440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20440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maker-checker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520440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บังคับแม้ Admin ทุกจุดสัมผัสเงิน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520440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อนุมัติเองได้ถ้าเป็นผู้ดูแล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50791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050791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ภาษีไทย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050791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e-Tax UBL 2.1 + XAdES, ภ.พ.30/36/ธ.40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050791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VAT พื้นฐาน export CSV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81144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581144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รับรู้รายได้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4581144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TFRS/IFRS 15 ครบ 5 waves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581144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straight-line defer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11496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11496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5111496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copilot สืบทอดสิทธิ์ + กั้นจาก GL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5111496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bolt-on chatbot แยก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41848"/>
            <a:ext cx="10872216" cy="475488"/>
          </a:xfrm>
          <a:prstGeom prst="roundRect">
            <a:avLst>
              <a:gd name="adj" fmla="val 6000"/>
            </a:avLst>
          </a:prstGeom>
          <a:solidFill>
            <a:srgbClr val="14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64184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ออฟไลน์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641848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DE09A"/>
                </a:solidFill>
                <a:latin typeface="Sarabun"/>
                <a:ea typeface="Sarabun"/>
                <a:cs typeface="Sarabun"/>
              </a:rPr>
              <a:t>✔  </a:t>
            </a:r>
            <a:r>
              <a:rPr sz="110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PWA + LAN hub replay exactly-once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5641848"/>
            <a:ext cx="3145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Sarabun"/>
                <a:ea typeface="Sarabun"/>
                <a:cs typeface="Sarabun"/>
              </a:rPr>
              <a:t>✕  </a:t>
            </a:r>
            <a:r>
              <a:rPr sz="10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ต้องออนไลน์ตลอด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สิ่งที่มีแต่ที่อื่นไม่มี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จุดต่าง ·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ทำไมจุดต่างเหล่านี้ 'ลอกยาก'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จุดแตกต่างของ Invisible ไม่ใช่ feature ผิวเผิน แต่เป็นการตัดสินใจเชิงสถาปัตยกรรมที่ฝังอยู่ในทุกบรรทัดโค้ด — คู่แข่งต้องเขียนใหม่ทั้งระบบจึงจะตามได้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การควบคุมเป็นค่าตั้งต้น (fail-closed)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ระบบ 'ปฏิเสธที่จะบูต' ถ้าตั้งค่าเสี่ยงข้อมูลรั่ว — ความปลอดภัยปิดโดยบังเอิญไม่ได้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969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31470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ควบคุมที่พิสูจน์ตัวเอง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110+ harness re-perform ทุก control ทุก deploy — ไม่ใช่ sampling ปีละครั้ง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3085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48556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balanced-by-construction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 JE บาลานซ์และ idempotent โดยโครงสร้าง — ข้อมูลบัญชีเพี้ยนเงียบไม่ได้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6647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58241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golden-master gate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logic การเงินถูกล็อกด้วย CI — เปลี่ยนผลลัพธ์ ledger/costing โดยไม่ตั้งใจ = build แดง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ซื่อสัตย์โดยบังคับ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CI gate ห้ามเขียนคำว่า 'audit-ready/100% compliant' โดยไม่มีเงื่อนไข — auditor เชื่อถือ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โลคัลไลซ์ระดับกฎหมาย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ไม่ใช่แค่แปลภาษา — e-Tax XAdES, TIS-620, พ.ศ., ม.86/4 ยื่นได้จริง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23367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แกนข้อมูลเดียว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POS→บัญชี→BI ไหลทันที ไม่มี ETL/sync — ตัวเลขที่เห็นคือตัวเลขจริง real-time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5367528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multi-GAAP โพสต์ครั้งเดียว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TFRS/TAX/IFRS แยกเฉพาะ adjustment — book-tax difference สะอาด วัดได้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สิ่งที่มีแต่ที่อื่นไม่มี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ระบบความปลอดภัย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ออกแบบมาเพื่อผ่าน penetration test และการตรวจสอบระดับบริษัทมหาชน — fail-closed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ความปลอดภัย ·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ความปลอดภัยในตัวเลข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ตรวจสอบโดยอิสระ 2 ครั้งในปี 2026 — internal pentest + third-party review, แก้ครบทุกข้อ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3464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controls (RCM)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278 Implemented · 4 Partial · 0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730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627" y="2834640"/>
            <a:ext cx="457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90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findings แก้ครบ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third-party review H-1..H-4/M-1/L-1..L-12 merged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7" y="2834640"/>
            <a:ext cx="457200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SoD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ประเมินอัตโนมัติต่อสิทธิ์จริงของผู้ใช้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18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79508" y="2834640"/>
            <a:ext cx="457200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378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1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tables RLS-isolated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1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แยกข้อมูลระดับ Postgres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300" b="0" i="1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pentest ภายในระบุ 1 Critical + 6 High + 8 Medium — remediate และ re-verify สด ครบทุกข้อ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ความปลอดภัย ·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การแยกข้อมูลหลายบริษัท (Multi-Tenant Isolation)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แยกที่ระดับฐานข้อมูล ไม่ใช่ระดับแอป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FORCE Row-Level Security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ทุกตารางมี RLS policy บน tenant_id, FORCE — แม้เจ้าของตารางก็อยู่ใต้กฎ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Transaction-local context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GUC ตั้งด้วย SET LOCAL — tenant context ไม่รั่วข้าม pooled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tenant_id จาก JWT ที่เซ็นเท่านั้น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ปลอมผ่าน header/body ไม่ได้ (pentest-verified)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5686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49554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Live role sourcing (L-3)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อ่าน role จาก DB สดทุก request — downgrade แล้วสิทธิ์หายทันที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Fail-closed — ระบบปฏิเสธที่จะบูตถ้าเสี่ยงรั่ว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Boot check H-3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prod ปฏิเสธบูตถ้า DB role เป็น superuser หรือมี BYPASSRLS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5158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44271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Non-superuser ierp_app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prod ต่อด้วย role NOSUPERUSER NOBYPASSRLS — ไม่มี opt-out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4485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540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Boot check H-4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ปฏิเสธบูตถ้ามี &gt;1 tenant ใต้ single-company mode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1937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12064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CI parity gate (pg-core)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พิสูจน์ isolation บน Postgres จริงทุก build ด้วย role รูปแบบเดียวกับ prod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ความปลอดภัย ·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Application Security — ปิดช่องโหว่ OWASP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ผ่านการ hardening ตาม OWASP Top 10 + API Security Top 10 แล้วตรวจสอบโดยผู้เชี่ยวชาญอิสระ ค่าตั้งต้นเป็น fail-closed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CSP nonce ต่อ request (M-1)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script-src nonce + strict-dynamic — inline script ที่ถูก inject ไม่มี nonce = ถูกปฏิเสธ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SSRF guard (H-1)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block loopback/RFC1918/metadata + IPv6-mapped hex, re-validate ตอนส่ง (DNS-rebind safe)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HMAC webhook (L-1/L-2)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verify HMAC-SHA256 over raw body + replay window, timingSafeEqual, fail-closed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API key = maker-checker (H-2)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key พก created_by, self-approve ไม่ได้, ถูกบังคับเป็น non-Admin + own tenant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Secrets เข้ารหัส at 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AES-256-GCM + HKDF keyring + rotation (17 คอลัมน์), SCIM token เก็บ hash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Session &amp; brute-force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JWT httpOnly + CSRF double-submit, token 8h→1h + revocation ทันที, login lockout + rate limit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ความปลอดภัย ·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SOX / ICFR &amp; การควบคุมภายใน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Risk-Control Matrix ที่ทดสอบตัวเอง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282 controls แมป COSO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แต่ละตัวมี 17 ฟิลด์ + ToE reference, generated จากโค้ด ไม่ hand-edit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110+ ToE harness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re-perform control ทุก CI run — fail = block merge, control regression ไม่หลุด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maker-checker ทั่วแอป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GL/payroll/stocktake/3-way/CPQ/NCR/treasury — approver ≠ initiator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5686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49554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Control Console ในแอป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auditor เปิด RCM catalogue + evidence ได้ในตัวสินค้า (/controls/rcm)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23 SoD rules + override 2 คน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R01–R23 ประเมินสิทธิ์จริง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block ตอน grant (SOD_CONFLICT) + detective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5158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44271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ตัวอย่าง high-risk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R02 vendor master ≠ AP pay, R08 บันทึกขาย ≠ คืนเงิน, R14 ตั้งรางวัล ≠ redeem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4485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540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override เป็น maker-checker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justified override staged, apply โดยคนละคน (≠ requester/target)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golden master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deep-compare ledger/procurement/BI กับ baseline — drift = CI แดง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ความปลอดภัย ·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ITGC · Audit Trail ·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ITGC 34 controls (Access 22 / Change 5 / SDLC 3 / Ops 4) — ฐานที่ auditor ตรวจก่อนจะเชื่อ automated control ใด 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Audit trail hash-chained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append-only, UPDATE/DELETE ถูก DB trigger ปฏิเสธ, verify endpoint ชี้จุดแรกที่ chain พัง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Field-level change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ภาพ OLD→NEW บน 7 ตารางการเงินหลักที่ DB layer — app code ข้ามไม่ได้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Access recertification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UAR รายไตรมาส — revoke แล้วลบสิทธิ์จริง + bump token watermark, freeze เป็นหลักฐาน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MFA + least privilege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TOTP บังคับ role การเงิน, POS-PIN ห้าม role privileged, Admin grant เฉพาะ platform owner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ISO 27001 · SOC 2 · PDPA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evidence base เดียวป้อน 4 frameworks; DSAR 30 วัน, RoPA, erasure ที่ไม่พัง audit chain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Change mgmt &amp; 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 review + branch protection, deployer ≠ author (CI-enforced), backup + restore drill + DR/BCP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ระบบความปลอดภัย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โมดูลทั้งหมดใน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ทุกโมดูลฝั่งหน้าร้าน — ขาย, ร้านอาหาร, กะ/เงินสด, ร้าน &amp; อุปกรณ์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POS ·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ฝั่งขาย &amp; ร้านอาหาร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16 โมดูลฝั่งขาย — จัดกลุ่ม frontline · dining · shift ทุกโมดูลลง GL อัตโนมัติและอยู่ใต้ SoD หน้าร้าน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 สัมผัส + PWA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5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5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5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จัดการออเดอร์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3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7103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03136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3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3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คืนสินค้า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1965960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1472" y="1965960"/>
            <a:ext cx="82296" cy="88239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4750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Refund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752344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อนุมัติคืนเงิน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Gift Cards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บัตรของขวัญ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2735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2735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58768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5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พิมพ์ใบเสร็จ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7103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47103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03136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0063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21423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ผังโต๊ะ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3104387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91472" y="3104387"/>
            <a:ext cx="82296" cy="88239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47504" y="334213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4" y="33238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332384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Reservations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3890772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จองโต๊ะ/คิว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8368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328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KDS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จอครัว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02735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02735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5876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58768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5696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Menu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77055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เมนู &amp; modifier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3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547103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803136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03136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0063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Buffet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บุฟเฟต์ต่อหัว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91472" y="4242816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491472" y="4242816"/>
            <a:ext cx="82296" cy="88239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74750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47504" y="44622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14432" y="44622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Tips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65792" y="5029200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ทิป &amp; tip pool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368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58368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1328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Control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คุมหน้าร้าน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02735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602735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858768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58768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25696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Till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77055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ลิ้นชัก/กะ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47103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547103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803136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03136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70063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Close of Day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21423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ปิดวัน Z-report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491472" y="5381244"/>
            <a:ext cx="2688336" cy="88239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491472" y="5381244"/>
            <a:ext cx="82296" cy="88239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747504" y="561898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47504" y="56007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14432" y="560070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PIN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65792" y="6167628"/>
            <a:ext cx="2185415" cy="-32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PIN quick-login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POS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POS ·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ร้าน &amp; อุปกรณ์ + วิเคราะห์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ร้าน &amp; อุปกรณ์ + วิเคราะห์ร้านอาหาร (menu engineering, food cost) — เชื่อมกับคลัง จัดซื้อ และ loyalty แบบไร้รอยต่อ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เคลมสินค้า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5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5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5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จัดส่ง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3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7103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03136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3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3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แอกกริเกเตอร์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1965960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1472" y="1965960"/>
            <a:ext cx="82296" cy="1261871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4750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21854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Peripherals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752344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อุปกรณ์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Terminals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เครื่องรูดบัตร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2735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2735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58768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Payment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5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บัญชีรับเงิน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47103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47103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03136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0063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Food 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21423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ต้นทุนอาหาร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3483863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91472" y="3483863"/>
            <a:ext cx="82296" cy="1261871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47504" y="3721607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4" y="3703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370332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Restaurant Analytics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4270248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วิเคราะห์ร้าน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8368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4400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328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Production 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แผนครัว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02735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02735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58768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58768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5696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Ops (Loyalty)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77055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สมาชิกหน้าร้าน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3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547103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803136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03136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₧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0063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 Fiscal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สมุดภาษี e-Tax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91472" y="5001767"/>
            <a:ext cx="2688336" cy="1261871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491472" y="5001767"/>
            <a:ext cx="82296" cy="1261871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747504" y="523951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47504" y="52212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14432" y="5221223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Shop/Requisition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65792" y="5788151"/>
            <a:ext cx="2185415" cy="3474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สั่งของเข้าร้าน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POS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โมดูลทั้งหมดใน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ทุกโมดูลฝั่งหลังบ้าน จัดเป็น 10 โดเมนหลัก — ขาย, ซัพพลายเชน, การเงิน, HR, โครงการ, วางแผน, ควบคุม, AI, 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ERP ·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ขาย &amp; ลูกค้า · ซัพพลายเชน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kanban/deal/account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5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5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876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ทะเบียนลูกค้า 360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3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3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แคมเปญ &amp; ROI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CPQ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ใบเสนอราคา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Service &amp; Warranty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บริการ/ประกัน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5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5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58768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Loyalty (11 จอ)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5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สมาชิก/แต้ม/gamify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3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47103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03136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3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3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ราคา &amp; โปรโมชัน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1472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91472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7504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Branches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สาขา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Inventory / WMS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สต๊อก/คลัง 3D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2735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02735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5876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5696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Stocktake/Cycle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7055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นับสต๊อก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3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47103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03136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3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Transfer/Receiving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1423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โอน/รับของ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1472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91472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4750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Costing/Landed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ต้นทุน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4400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Procurement/PR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จัดซื้อ/คำขอ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02735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02735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58768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58768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5696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Suppliers/RFQ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77055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ผู้ขาย/สอบราคา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47103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547103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03136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3136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🏭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0063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Manufacturing/BOM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21423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ผลิต/สูตร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91472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491472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47504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47504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◇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Quality (NCR/CAPA)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5792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คุณภาพ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ERP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ERP ·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การเงิน · บัญชี · ภาษี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Finance AR/AP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ลูกหนี้/เจ้าหนี้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5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5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876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Customer/Vendor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การ์ด statement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3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3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Disbursements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จ่ายเงิน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Credit 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คุมเครดิต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Accounting/GL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บัญชีแยกประเภท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5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5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58768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Chart of Accounts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5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ผังบัญชี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3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47103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03136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3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Revenue Rec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3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รับรู้รายได้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1472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91472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7504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Fixed Assets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สินทรัพย์ถาวร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Leases (IFRS16)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สัญญาเช่า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2735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02735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5876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5696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Deferred Tax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7055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ภาษีเงินได้รอตัด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3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47103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03136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3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Bank/Reconciliation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1423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ธนาคาร/กระทบยอด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1472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91472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4750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Approvals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อนุมัติ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4400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📊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Command Center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CFO cockpit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02735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02735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58768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58768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🏛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5696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Consolidation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77055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งบรวม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47103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547103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03136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3136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0063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Tax (VAT/WHT/e-Tax)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21423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ภาษีไทย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91472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491472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47504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47504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Treasury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5792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เทรเชอรี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ERP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ERP ·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HR · โครงการ · วางแผน · ควบคุม · AI · ระบบ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HCM/Org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บุคลากร/องค์กร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5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5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876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ประเมินผล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3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3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Payroll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เงินเดือน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737360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1737360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750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1956815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23744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self-service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Projects/PPM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โครงการ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5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5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58768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Real Estate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5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อสังหา/ก่อสร้าง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3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47103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03136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03136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3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Portfolio/PMO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3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พอร์ตโฟลิโอ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1472" y="2932937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91472" y="2932937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47504" y="3170681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7504" y="315239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152394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Planning/Budget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719322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วางแผน/งบ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Demand/Profitability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พยากรณ์/กำไร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2735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602735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5876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58768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5696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BI/Query/NL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7055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วิเคราะห์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3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47103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03136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03136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3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Controls/SoD/Audit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1423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ควบคุม/ตรวจสอบ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1472" y="4128515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91472" y="4128515"/>
            <a:ext cx="82296" cy="939545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4750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7504" y="43479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4347972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Governance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4900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ธรรมาภิบาล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8368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4400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AI/Copilot/Actions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ผู้ช่วย AI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02735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02735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58768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58768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5696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Master Data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77055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ข้อมูลหลัก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47103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547103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803136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3136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0063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Studio/No-code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21423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ปรับแต่ง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91472" y="5324094"/>
            <a:ext cx="2688336" cy="939545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491472" y="5324094"/>
            <a:ext cx="82296" cy="939545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47504" y="5561838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47504" y="554355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5543550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Connectors/API/SSO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65792" y="6110478"/>
            <a:ext cx="2185415" cy="251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เชื่อมต่อ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โมดูล ERP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เจาะลึกแต่ละโมดูล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รายละเอียดเชิงลึก ความสามารถจริง การควบคุม และจุดเด่นของแต่ละโมดูล พร้อม control ID อ้างอิงได้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POS · หน้าร้าน &amp; ร้านอาหาร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ระบบขายหน้าร้าน &amp; บริหารร้านอาหารครบวงจร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2952" y="749808"/>
            <a:ext cx="162763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2952" y="731520"/>
            <a:ext cx="1627632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FLAGSHIP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POS ระดับ full-service สำหรับไทย — dine-in ระดับที่นั่ง, KDS, สั่งเอง QR + PromptPay, บุฟเฟต์, แยกบิล, เดลิเวอรี และ 'สมุดบัญชีภาษีที่แก้ไม่ได้' (hash-chain) ตามข้อกำหนดสรรพากร ทุกการปิดการขายลง GL อัตโนมัติแบบบาลานซ์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Dine-in ระดับที่นั่ง (POS-9)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สั่งแยกที่นั่ง/คอร์ส, fire by seat/course, รวมยอดต่อที่นั่ง, แยกบิลตามที่นั่ง — 'เลขบิลคือเลขที่นั่ง'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Kitchen Display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สถานะ new→preparing→ready→served, SLA aging เขียว/เหลือง/แดง, bump/recall, Expo + Station 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สั่งเอง QR + PromptPay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สแกนโต๊ะ → เมนู + กลุ่ม modifier, day-parting, ราคาคำนวณฝั่ง server (ลูกค้าแก้ราคาไม่ได้), จ่าย EMVCo QR จริง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ผังร้าน &amp; โต๊ะ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ลากวางโต๊ะ/โซน VIP, ย้าย/รวม/โอนบิล, optimistic-lock กันชนกัน, รายงานยอดขายต่อห้อง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บุฟเฟต์ &amp; แยกบิล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ราคาต่อหัว + ค่าปรับเกินเวลา, แยกบิล equal/by-item/by-seat, N บิล = N GL = N ใบกำกับ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โปรไฟล์ลูกค้า (allergy live)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เมนูโปรด/แพ้อาหาร/ที่นั่งโปรด — ธงแพ้อาหารขึ้นบนบอร์ด+ทุกตั๋วครัวแบบเรียลไทม์, ถอนความยินยอมแล้วหายทันที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POS · หน้าร้าน &amp; ร้านอาหาร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POS · หน้าร้าน &amp; ร้านอาหาร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การควบคุมความถูกต้องเงินสด &amp; กันทุจริตหน้าร้าน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สมุดบัญชี fiscal แบบ hash-chain (SHA256 ต่อแถว) — แก้แถวเก่า = hash ทุกแถวถัดไปพัง ตรวจจับได้ทันจุด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REST-01/GL-01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JE การขายบาลานซ์ + COGS ตามสูตร idempotent ต่อ sale_no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เพดานส่วนลด 50% (DISCOUNT_OVER_LIMIT) เกินต้องผู้จัดการกะอนุมัติ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TIP-01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การแบ่งทิป (order_mgt/exec) แยกจากแคชเชียร์ (pos_sell) — จ่ายทิปให้ตัวเองไม่ได้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6281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64123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REST-11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บันทึกการเปิดลิ้นชักทุกครั้ง + ธง no-sale, กระทบยอดกับ Z-report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สมุดภาษีแบบ cryptographic hash chain — ไม่ใช่แค่ log; การตรวจสอบชี้จุดที่ถูกแก้ไขได้แม่นยำ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ลูกค้าสแกน–สั่ง–จ่ายเองครบ โดยไม่มีความเสี่ยงแก้ราคา (คำนวณฝั่ง server ทั้งหมด)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ออฟไลน์ทำงานจริง — PWA ขายต่อได้ทั้ง quick-sale และ dine-in ขณะเน็ตล่ม, replay exactly-once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ธงแพ้อาหารขึ้นสดบนทุกตั๋วครัว หายทันทีเมื่อถอนความยินยอม (PDPA)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/pos/register   /kds   /tables   /pos/till   /buffet   /track/{token}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POS · หน้าร้าน &amp; ร้านอาหาร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POS · ต่อ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หลายสาขา · ออฟไลน์ · เดลิเวอรี · อุปกรณ์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PWA ขายออฟไลน์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ติดตั้งเป็นแอป ขายต่อได้ขณะเน็ตล่ม, idempotent ต่อ (tenant, client_uuid), replay เข้าคลาวด์แบบ exactly-once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LAN-first Store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ฮับในร้านแบบ signed snapshot, ซิงก์ขาย/ทิ้ง/นับสต๊อกกลับคลาวด์ครั้งเดียวเป๊ะ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รวมยอดหลายสาขา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 consolidation ข้ามสาขา, ยอดไม่ติดสาขาแสดง '(none)' เพื่อความครบถ้วน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เดลิเวอรีแอกกริเกเตอร์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Grab / LINE MAN / Foodpanda / Robinhood — webhook HMAC, sync เมนู, Auto-86 อัตโนมัติ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ติดตามออเดอร์สาธารณะ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/track/{token} ไม่ต้องล็อกอิน — ไทม์ไลน์สด + จ่ายออนไลน์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อุปกรณ์ฮาร์ดแวร์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ESC/POS thermal, ลิ้นชักเงิน, จอลูกค้า, เครื่องชั่ง (คิดราคาฝั่ง server), e-Tax INET/Frank/Leceipt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LOYALTY · สมาชิก &amp; แต้ม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ระบบสมาชิก &amp; Loyalty ที่ผูกบัญชี GL 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749808"/>
            <a:ext cx="2066543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73152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LINE-NATIVE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โปรแกรมสมาชิกที่ปลอดภัยต่อ concurrency, ลงบัญชีตาม TFRS-15, มี LINE OA เป็นแกนตัวตน, ครบทั้ง missions/referral/กงล้อ/tier/journey, coalition แฟรนไชส์ และแอปสมาชิก — 'แต้ม' คือ sub-ledger ผูกกับ GL 2250 Loyalty Points 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แต้ม &amp; tier ปลอดภัย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earn/redeem ใต้ FOR UPDATE ไม่มีแต้มหาย, tier auto-recompute + ประวัติ, tier journey แสดงแต้มถึงขั้นถัดไป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ของรางวัล &amp; 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evoucher/discount/product/privilege, stamp card, member-get-member รางวัลครั้งเดียว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กงล้อเสี่ยงโชค (provably fair)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สุ่มถ่วงน้ำหนักฝั่ง server แบบ cryptographic — ลูกค้าแทรกแซงไม่ได้, กันสต๊อกรางวัลติดลบ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Campaign &amp;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broadcast ตาม RFM/tier/วันเกิด, claim-first at-most-once, เคารพ consent + quiet 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Coalition แฟรนไชส์ (LYL-19)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สะสม/ใช้แต้มข้ามแบรนด์ — ลงบัญชี intercompany clearing (1150/2150) แบบ atomic ที่มูลค่ายุติธรรม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NPS ปิดลูป (LYL-20)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survey หลังซื้อไม่มี PII ใน URL — detractor (≤6) เปิด recovery case SLA 24 ชม.อัตโนมัติ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Loyalty · สมาชิก &amp; แต้ม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LOYALTY · สมาชิก &amp; แต้ม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แต้ม = หนี้สินที่ลงบัญชี ไม่ใช่ตัวเลขลอย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earn/redeem ปลอดภัย concurrency; config มูลค่าแต้มแยกจากพนักงานหน้าร้าน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accrual หนี้สินแต้มอัตโนมัติ idempotent + de-recognition breakage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LYL-17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อัปโหลดใบเสร็จรับแต้ม maker-checker + กันซ้ำ (DUPLICATE_RECEIPT)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G13/R15 โอนแต้ม &gt; 500 pts staged PendingApproval, ปล่อยโดยคนละคน (SOD_VIOLATION)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4406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37667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PDPA member_consents ต่อวัตถุประสงค์ — ทุก broadcast บังคับ consent + frequency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แต้มเป็นหนี้สินที่ลง GL 2250 ด้วย TFRS-15 provision, accrual/breakage อัตโนมัติที่ปิดงวด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1409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Coalition แฟรนไชส์ — สะสม/ใช้ที่ไหนก็ได้ พร้อม intercompany clearing entry ที่บาลานซ์เสมอ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8862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กงล้อ provably-fair — สุ่มฝั่ง server ที่พิสูจน์ได้, ทุกครั้งบันทึกไว้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63143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คะแนน NPS แย่กลายเป็น recovery case มี SLA 24 ชม. — ไม่มีทางหายเงียบ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74536" y="54406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5376671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LINE ครบวงจร — สมัคร/ล็อกอิน LIFF/e-receipt flex/wallet pass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/loyalty   /loyalty/members/:id   /loyalty/journeys   /loyalty/receipt-approvals   /m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Loyalty · สมาชิก &amp; แต้ม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CRM · ไปป์ไลน์ &amp; CPQ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+ ขาย + บริการหลังการขาย บนแกนเดียว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แพลตฟอร์มขาย-บริการบนแกน opportunity เดียว: kanban pipeline, lead-to-cash ที่คุมได้, CPQ ที่บังคับ margin floor และ workspace หลังการขาย (SLA/warranty/case) — ปิดช่อง 'CRM ไม่เห็นเงิน' ด้วย Customer 360 ที่รวมเครดิต/AR/ดีล/ใบเสนอราคา/loyalty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แกน opportunity เดียว (CRM-1)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ตารางเดียวเสิร์ฟ /crm + /pipeline, ทุกการเลื่อน stage เขียน history แบบ append-only, won/lost เป็น terminal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CRM workspace (CRM-2)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kanban ลากวาง + list + saved filter, หน้า deal/account, timeline กิจกรรมรวม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Lead ปริมาณมาก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import CSV/xlsx (dry-run), web-to-lead สาธารณะ (honeypot + rate limit), qualify→convert สร้างลูกค้า+opportunity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Lead scoring &amp; follow-up (CRM-4)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เกรด A–D อธิบายได้ (ไม่ใช่กล่องดำ), follow-up center ตาม SLA/rotting, digest รายวัน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CPQ margin floor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quote คำนวณฝั่ง server, ยอมรับ = ลง JE บาลานซ์ (CPQ-WIN), bundle แตกเป็นบรรทัดต้นทุนจริง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บริการหลังการขาย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service contract SLA (Bronze–Platinum), subscription billing, warranty/entitlement, support case + Email-to-Case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CRM · ไปป์ไลน์ &amp; CPQ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CRM · ไปป์ไลน์ &amp; CPQ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ขายต่ำกว่าต้นทุนไม่ได้ถ้าไม่มีคนที่สองอนุมัติ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CPQ-01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margin floor maker-checker — ส่วนลด/มาร์จิ้นต่ำกว่าเกณฑ์ pending, ยอมรับไม่ได้จนคนละคนอนุมัติ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CPQ-03/G12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ยอมรับใบเสนอราคา (ลงรายได้) ต้องคนละคนกับผู้เขียน (SOD_VIOLATION)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R09/R10 credit master แยกจาก order entry; ราคา/ส่วนลด แยกจากการขาย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SVC-01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การให้เคลมฟรีนอกประกันต้องผู้อนุมัติอิสระ; SVC-02 renewal เกินเพดาน maker-checker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6281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64123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KB publish ต้องผู้เขียน ≠ ผู้เผยแพร่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ขายต่ำกว่า margin floor ไม่ได้ — quote ไปไม่ถึง Accepted จนผู้อนุมัติอิสระเคลียร์ (bundle ก็แอบลดไม่ได้)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'CRM ที่เห็นเงิน' — Customer 360 รวมเครดิต/AR ค้าง/ดีล/quote/loyalty tier+NPS ในมุมมองก่อนโทร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ตรวจสิทธิ์ประกันอัตโนมัติตอนเคลม — ในประกัน = ฟรีทันที, นอกประกัน = รออนุมัติ + log ทุกครั้ง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แกนเดียว lead→opp→quote→AR→หลังการขาย บน customer-of-record เดียว มี stage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/crm   /crm/deals/{OPP}   /service   /service/warranty   /service/renewals   /cpq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CRM · ไปป์ไลน์ &amp; CPQ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MARKETING · ราคา &amp; โปรโมชัน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ราคา &amp; โปรโมชันที่ 'ไม่มีอะไรขึ้นใช้งานโดยไม่ผ่านการตรวจ'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การกำหนดราคา/ส่วนลดที่ทุกการเปลี่ยนเป็น maker-checker (staged inactive จนคนละคนเปิดใช้) และ engine อ่านเฉพาะกฎที่อนุมัติแล้ว — บวก campaign/segment, A/B test มีนัยสำคัญทางสถิติจริง, ROI ที่ซื่อสัตย์ต่อมาร์จิ้น และ export audience แบบ hash-only ตาม PDPA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Campaign &amp;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campaign active/inactive, RFM segment (VIP/Loyal/At-Risk/New), abandoned-cart nudge, survey/NPS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โปรโมชัน &amp; กฎราคา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Percent/Amount/BuyXGetY/Bundle/MinSpend/FreeGift, กฎ percent/fixed/bogo/qty-break + gate วัน/เวลา/ช่องทาง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LINE marketing ปิดลูป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trigger lapsed/birthday/winback, คูปองต่อคนตามช่องทาง, redeem ปิดลูป, A/B + holdout ด้วย hash bucketing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A/B มีนัยสำคัญจริง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Wilson 95% CI + z-test p-value, verdict real/underpowered/no-effect (p&lt;.05 และกลุ่ม ≥30)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ROI ซื่อสัตย์มาร์จิ้น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ส่วนลด = ต้นทุนไม่ใช่รายได้, join ต้นทุนอาหารจริง, วัด lift เทียบ holdout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Export audience (PDPA-05)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fail-closed 2 ชั้น (ROPA + consent สด), ส่งเฉพาะ SHA-256 hash ไป Meta/Google, ถอน consent = ลบออกจริง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Marketing · ราคา &amp; โปรโมชัน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MARKETING · ราคา &amp; โปรโมชัน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ส่วนลดขึ้นใช้ไม่ได้จนกว่าจะมีคนอนุมัติ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MKT-01/R10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กฎราคา/โปรโมชัน maker-checker (status PendingApproval → คนละคน activate); engine อ่านเฉพาะ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promotion max_uses บังคับแบบ atomic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REV-20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voucher campaign activation maker-checker + single redemption + void มี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MKT-04/05/PDPA-05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บังคับ consent ทุกการส่ง; export double fail-closed, hash-only, removal-synced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ส่วนลดขึ้นใช้ไม่ได้จนคนละคนอนุมัติ — มาร์จิ้นถูกแจกเงียบไม่ได้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1409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A/B ที่ไม่โกหก — CI + p-value จริง พร้อม verdict 'underpowered — เพิ่มกลุ่ม'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8862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ส่ง audience ไป Meta/Google โดย PII ไม่หลุด — hash-only, gate ด้วย ROPA + consent, ถอนแล้วลบจริง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8188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ROI ที่นับส่วนลดเป็นต้นทุน วัด lift เทียบ holdout — ไม่หลอกตัวเอง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/marketing   /settings/messaging   /crm/audience-export   /reputation   /mmm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Marketing · ราคา &amp; โปรโมชัน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เจาะลึก · คืนเงิน / คืนสินค้า / STORED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คืนเงิน–คืนสินค้า &amp; บัตรของขวัญ ด้วย atomic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คืนสินค้า &amp; คืนเงิน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RTN- atomic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คืนเงิน+รับเข้าสต๊อก+บันทึก+reverse GL/COGS ทั้งหมดในทรานแซกชันเดียว — ล้มก็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คืนตามสัดส่วน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lineNet ตาม qty ที่คืน + VAT ตามสัดส่วน; เงินสด/บัตร/QR หรือ Store Credit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RET-01/REV-06 กันเกิน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OVER_RETURN (สะสม) + OVER_REFUND ใต้ payment-row 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RET-03/R12/R08 SoD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อนุมัติคืนเงินแยกจากทำรายการคืน — /pos/refunds ซ่อนจากแคชเชียร์ (บังคับที่ UI ด้วย)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บัตรของขวัญ &amp; Store Credit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GC- = หนี้สิน 2200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≤5,000 ฿ ออก Active อัตโนมัติ; &gt;5,000 ฿ pending จนผู้เงินอิสระอนุมัติ (GC-01/R14)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GC-03 กัน double-spend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redeem ใต้ card-row FOR UPDATE 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4485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7540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Sub-ledger GCT-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บันทึกทุก issue/redeem/top-up, tie-out กับ GL 2200 + breakage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Store Credit ชั้นหนึ่ง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คืนเป็นเครดิตร้าน = สร้างบัตร 2200 จริงพร้อม sub-ledger เต็ม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จัดซื้อ · PROCURE-TO-PAY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วงจรจัดซื้อ–จ่ายที่แยกหน้าที่ทุกขั้น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วงจรรายจ่ายที่แยกหน้าที่เต็มรูป PR→PO→รับของ→3-way match→จ่าย โดยแต่ละขั้นอยู่คนละหน้าจอ — จับคู่ประสบการณ์ซื้อสไตล์ Shopee/LINE กับการควบคุม maker-checker ระดับ SOX: 'จ่ายเฉพาะของที่สั่งถูก รับจริง ราคาตกลง ผู้ขายอนุมัติ และผ่านการอนุญาต'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คำขอซื้อ &amp;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 โดยใครก็ได้ (pr_raise), /shop แคตตาล็อกรูปภาพ + favourites/รายการประจำ sync ข้ามเครื่อง, สแกนบาร์โค้ด, project-scoped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LINE OA 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สร้าง/อนุมัติ PR, receive, claim, spend, บิล, AI ร่าง PR — ทุกเส้นทางเล่น createPr/workflow เดิม, SoD ผูกเหมือนกัน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RFQ &amp; 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ใบขอเสนอราคา PDF, PO multi-currency, ธง capital line → fixed-asset register, แนบรูปบิล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รับของแบบนับตาบอด (EXP-12)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/receiving ไม่ pre-fill จำนวนนับ, gate OVER_RECEIPT, สรุปสั่ง-vs-รับ, claim window 24 ชม.พร้อมรูปหน้าท่า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3-way match &amp; AP 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PO↔GR↔Invoice ในเกณฑ์, doc-AI สแกนบิล auto-map PO ลงบิล+match ในสเต็ปเดียว, กันบิลซ้ำ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Supplier scorecards &amp;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จัดอันดับผู้ขาย on-time/quality/price, พอร์ทัลผู้ขาย acknowledge PO/ส่งบิล — จ่ายเงินตัวเองไม่ได้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จัดซื้อ · Procure-to-Pay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จัดซื้อ · PROCURE-TO-PAY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กันทุจริตจัดซื้อ–จ่าย ทุกจุดตัดสินใจ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R03/R04/R07 buyer ≠ receiver ≠ approver; รับของต้อง wh_receive (procurement เฉย ๆ รับไม่ได้)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จ่ายเจ้าหนี้ maker-checker (creditors ≠ approvals/gl_close); EXP-09 MATCH_BLOCKED บิลผูก PO ที่ยังไม่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611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EXP-11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เปลี่ยนบัญชีธนาคารผู้ขาย maker-checker (กัน BEC) + เข้ารหัส at 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0063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gate OVER_RECEIPT (เกินได้เฉพาะ UoM น้ำหนัก 5%), claim window, close-short ระดับบรรทัด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60030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939027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EXP-13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payment run maker-checker (เสนอ≠อนุมัติ≠สั่งจ่าย); ไฟล์ธนาคาร SHA-256-pinned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สั่งซื้อจาก LINE chat โดยการควบคุมไม่หาย — ทุกเส้นทางเล่น flow เว็บเดิม SoD/maker-checker ผูกเหมือนกัน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doc-AI สแกนบิลแล้ว match เอง — แตก vendor/PO/ยอด, auto-map, ลงบิล, 3-way, ปฏิเสธซ้ำ, ปล่อยบิลมาก่อนของอัตโนมัติ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รับของแบบนับตาบอด — ไม่ pre-fill จำนวน + กันรับเกิน, มี claim window 24 ชม.พร้อมรูปหลักฐานหน้าท่า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ป้องกัน BEC ในตัว — บัญชีผู้รับเงินล็อกแก้ + dual control + เข้ารหัส, ไฟล์จ่าย SHA-256 ผูกกับ run ที่อนุมัติ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/requisitions   /shop   /receiving   /procurement/match   /procurement/ap-intake   /disbursements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จัดซื้อ · Procure-to-Pay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คลังสินค้า · WMS &amp; ต้นทุน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สต๊อกแบบ perpetual มีมูลค่า ผูก GL ทุกงวด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บัญชีย่อยสินค้าคงคลังแบบ perpetual มีมูลค่า — สต๊อกครบถ้วน ขายเกินไม่ได้ คิดต้นทุนถูกตอนใช้ กระทบยอด GL 1200 ทุกงวด ครอบคลุม WMS (bin 3D, wave, สแกนมือถือ) + engine ต้นทุน (moving-avg/FIFO/FEFO, landed cost, standard cost) พร้อม maker-checker ทุกการทำลายมูลค่า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บัญชีสต๊อก perpetual (INV-06)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รับ/จ่าย/ปรับ ลง JE บาลานซ์ idempotent ต่อ ref, no-oversell (NEG_STOCK), banner กระทบยอด GL 1200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วิธีต้นทุน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moving-average (default) หรือ FIFO/FEFO layers (แต่ละ layer พก lot+วันหมดอายุ) — เลือกต่อ item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Landed cost (COST-01)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ค่าขนส่ง/อากร/ประกัน capitalize เข้าต้นทุนต่อหน่วยตาม value/qty/weight; std-cost roll maker-checker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นับสต๊อก &amp; cycle count (INV-17)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แยกจอ นับ (wh_count) ≠ ปรับ (wh_adjust), ABC classification + cadence + นับตาบอด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Transfer orders (INV-16)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โอนระหว่างคลัง 2 สเต็ป ship→receive ผ่านบัญชี Goods-in-Transit 1255, ผู้ส่ง≠ผู้รับ, รายงาน aging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WMS 3D &amp; lot recall (INV-18)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ผังคลัง 3D ระบายสีตาม utilization, over-fill reject, lot genealogy 2 ทาง + quarantine hold ตัดออกจาก FEFO/wave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คลังสินค้า · WMS &amp; ต้นทุน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คลังสินค้า · WMS &amp; ต้นทุน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มูลค่าสินค้าที่พิสูจน์ตัวเองได้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R11 คนปรับ (wh_adjust) ≠ คนนับ (wh_count) — บังคับด้วย 2 หน้าจอแยกกันจริง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INV-01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no oversell (FOR UPDATE + NEG_STOCK/PICK_SHORT); INV-04 counter ≠ variance-poster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INV-07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write-off maker-checker (ผูกแม้ Admin); INV-16 shipper ≠ receiver; INV-08 bin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COST-01/02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preparer ≠ poster; QC-03 CoA recorder ≠ deviation approver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ผังคลัง 3D หมุนดูได้ — bin ระบายสีตามความจุ, พิมพ์ Item ID แล้ว bin ที่มีของสว่างม่วง + กัน over-fill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บัญชีย่อยที่ผูก GL เสมอ — ทุกการเคลื่อนไหวลง JE บาลานซ์, idempotent, กระทบยอดบัญชี 1200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นับ cycle-count ตาบอดตามความเสี่ยง — ABC จัดอันดับ, ของ A นับทุกเดือน, ซ่อนยอดสมุดจากผู้นับ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เรียกคืนล็อตในคลิกเดียว — genealogy 2 ทาง + hold ที่ตัดล็อตออกจาก FEFO และ wave allocation จริง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/inventory   /inventory-ledger   /wms   /lots   /stock-ops/cycle-counts   /costing/landed-cost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คลังสินค้า · WMS &amp; ต้นทุน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การผลิต ·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BOM→สินค้าสำเร็จรูป พร้อม APS finite-capacity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engine ต้นทุน BOM→สินค้าสำเร็จรูปที่ WIP/FG/absorption/COGS ถูกต้องครบถ้วน ตัดงวด และอนุมัติ — ทุก posting ลง GL แบบบาลานซ์ idempotent บวกการวางแผนสมัยใหม่ (MRP หลายระดับ, RCCP, APS finite-capacity) บน maker-checker BOM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BOM &amp; work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BOM master + distribution (maker-checker), roll-up ต้นทุน+labor+overhead, WO Open→Released→Completed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Material issue &amp; variance (MFG-02)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Dr WIP/Cr Raw idempotent, FG ที่ std×ผลิตจริง, yield variance → 5810 (WIP relieved เสมอ)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MRP หลายระดับ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BOM explosion recursive, netting on-hand, Make+Buy, plan-to-PR (แยกจากการซื้อ), lot-sizing/EOQ, RCCP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APS finite-capacity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จัด operation ลง work center — predecessor gating + one-op-at-a-time + EDD → schedule, dispatch queue, makespan, ธง 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Costing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FIFO/AVG/STD ต่อ tenant+item, GR capitalization, STD → PPV ไป 5500 เป็น plug เดียว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Streaming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BiLive SSE push kpi_refresh สู่ dashboard สด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การผลิต · Manufacturing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การผลิต · MANUFACTURING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ต้นทุนผลิตที่ซื่อสัตย์ต่อ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R04 ผู้สร้าง WO ≠ ผู้รับ; R13 BOM/costing config แยกจากการทำรายการ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MFG-01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 BOM governance + maker-checker; MFG-02 JE บาลานซ์ idempotent + yield/material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MFG-03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STD PPV → 5500; GL-01 balanced JE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COST-02/MDM-01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std-cost roll: preparer (md_config) ≠ approver (exec)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APS finite-capacity บน RCCP — schedule ต่อ operation จริง (start/finish, dispatch queue, makespan, ธง late) เคารพ predecessor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5158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ปิดงานแบบซื่อสัตย์ variance — yield ขาดเข้า 5810 (ไม่ capitalize เข้า FG), material variance โผล่ ไม่ซ่อนใน FG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5125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4485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MRP หลายระดับที่กลายเป็น PR จริง — explosion + EOQ/lot-sizing แล้ว plan-to-PR เข้าflow จัดซื้อที่แยกหน้าที่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4452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38124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ทุก posting การผลิต idempotent + บาลานซ์ — re-issue/re-complete เป็น no-op, PPV เป็น plug เดียว JE ไม่ reject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/manufacturing   /production   /production/schedule   /costing   /bom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การผลิต · 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คุณภาพ · QMS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NCR · CAPA · SCAR/8D · CoA — ไม่มีใครเซ็นทิ้งเองได้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ระบบคุณภาพครบวงจรที่ปิดช่องว่างใหญ่สุดของวงจรคุณภาพ: ไม่มีผู้ตรวจคนใดทิ้งสต๊อก ปล่อยของนอกสเปค requalify ผู้ขาย หรือปิด corrective action ด้วยลายเซ็นตัวเอง — NCR/CAPA/SCAR/CoA แต่ละอันบังคับผู้อนุมัติคนที่สองอิสระ ทุก scan disposition ลง write-off ที่คุมได้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NCR register (QC-01)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open→pending_disposition→dispositioned→closed, scrap ลง Dr 5810/Cr inventory ต้นทาง, defect-code taxonomy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CAPA (QC-02)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corrective/preventive loop, action items, submit→pending_verification, effectiveness sign-off (ไม่ได้ผลเปิดใหม่)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SCAR/8D (QC-04)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supplier corrective action ฟิลด์ 8D (D3–D7), effectiveness verdict gate การ requalify ผู้ขาย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Certificate of Analysis (QC-03)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spec ต่อ item (min–max), evaluate pass/fail, out-of-spec deviation release + register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Disposition/scrap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Accept/Rework/Quarantine/Scrap, เขียนมูลค่าเสียเข้า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Waste 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reason × disposition บน /waste, void-fire recipe explosion, variance ทฤษฎี-vs-จริง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คุณภาพ · QMS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คุณภาพ · QMS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ทุก disposition ต้องลายเซ็นที่สอง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R21 ผู้ราย/เจ้าของ (quality) ≠ ผู้อนุมัติ/verify (quality_approve/exec)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QC-01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NCR disposition maker-checker (dispositioned_by ≠ raised_by, ผูก Admin)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QC-02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CAPA effectiveness verify (verified_by ≠ owner; action ครบ; ไม่ได้ผล = reopen)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6954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63143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QC-03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out-of-spec release (recorder ≠ approver + reason); QC-04 SCAR closure (closer ≠ raiser, 8D ครบ)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scrap เซ็นเองไม่ได้ — ทุก disposition ทางการเงิน park จนคนละคนอนุมัติ + แสดงเลข JE write-off บน NCR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CAPA ที่ตรวจ effectiveness — ปิดต้องมี verifier อิสระ + action ครบ, 'ไม่ได้ผล' เปิดเคสใหม่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SCAR 8D ผูกกับการ requalify ผู้ขาย — ปิดได้เฉพาะ 8D ครบที่คนที่สองรีวิว, effective เท่านั้นถึง requalify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CoA deviation register = sample พร้อมตรวจ — ทุกล็อตนอกสเปคมี recorder+approver+reason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/quality/ncr   /quality/capa   /quality/scar   /quality/coa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คุณภาพ · QMS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เจาะลึก · MASTER 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ข้อมูลหลัก: engine เดียว คุมทุก entity + กันทุจริต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registry เดียวคุมทุก master (item/ลูกค้า/ผู้ขาย/ราคา/โปรโมชัน/BOM) — import/export, validate ต่อแถว, maker-checker ฟิลด์การเงิน, audit trail แก้ไม่ได้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Registry engine เดียว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export→แก้ Excel→dry-run validate→commit เหมือนกันทุก entity, error TH/EN ต่อแถว (ไม่ fail-on-first)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ฟิลด์อ่อนไหว 2 คน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credit limit/payment terms/ราคา/ส่วนลด — batch/single staged, ปล่อยโดยผู้อนุมัติอิสระ (SOD_VIOLATION)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DQM ระดับ Oracle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ตรวจซ้ำ (tax-id/barcode + fuzzy name) + match-merge repoint ลูก, survivorship, soft-retire ไม่ลบ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ประวัติแก้ไขแก้ไม่ได้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data_change_log ที่ DB layer append-only, mask ฟิลด์อ่อนไหว — หลักฐานที่แก้/ลบไม่ได้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 fields (UDF)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ฟิลด์ typed no-code (text/number/date/select) บนทุก entity, validate ฝั่ง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Setup IO surface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item_categories + tax_codes ผ่าน engine เดียวกัน gate สิทธิ์แคบ (md_item/md_config)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การเงิน · ลูกหนี้ &amp; เจ้าหนี้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ศูนย์เงินหมุนเวียน AR/AP สไตล์ PEAK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ศูนย์กลาง working capital ที่รวมวงจรลูกหนี้–เจ้าหนี้ในหน้าเดียว — การ์ด statement, ตัดชำระข้ามใบแจ้งหนี้, วงจรอนุมัติจ่าย maker-checker, ควบคุมเครดิต, เงินทดรอง และทวงหนี้อัตโนมัติ ทุกจุดสัมผัสเงินสดแยกหน้าที่และลง GL อัตโนมัติ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การ์ดลูกหนี้/เจ้าหนี้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statement opening→running→closing balance, multi-currency (booked FX), export CSV/PDF/อีเมล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360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เครดิตเทอม, ที่อยู่หลายรายการ, related party (SOX), find &amp; merge, ประวัติแก้ไข hash-chained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AR &amp; cash application (REV-21)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INV- + รับชำระ RCP-, ตัดชำระหลายใบ, เศษพัก on-account 2220, ตัด ≥100,000 ฿ ต้องอนุมัติที่สอง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AP &amp; payment run (EXP-13)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บันทึกบิล AP-, จ่ายหลายเจ้าหนี้ครั้งเดียว, ไฟล์ SCB/KBank/BBL/ISO20022 pain.001 + SHA-256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Allowance หนี้สงสัยจะสูญ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aging buckets loss-rate → Dr 5720/Cr 1190 (posts เฉพาะ delta)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เงินทดรอง &amp; petty cash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advance ADV- (1180), imprest fund (1015), early-payment discount → 4600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การเงิน · ลูกหนี้ &amp; เจ้าหนี้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การเงิน · ลูกหนี้ &amp; เจ้าหนี้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แยกทีมจริง 2 หน้าจอ: ขอจ่าย ≠ ปล่อยเงิน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จ่ายเจ้าหนี้ maker-checker: ผู้ขอ (creditors) ≠ ผู้อนุมัติ (approvals/gl_close), ผูกแม้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EXP-09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3-way match gate: บิลผูก PO ต้องผ่านก่อนจ่าย (MATCH_BLOCKED)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REV-08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credit-manager maker-checker: เปลี่ยน limit/ปลด hold ต้องคนที่สอง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credit hold/serious-overdue: เกินวงเงินหรือค้าง 90+ วัน → hold บังคับถึง POS/portal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5815583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751575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REC-02/R06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bank reconciliation: ผู้เตรียม ≠ ผู้รับรอง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แยกทีมจริง 2 หน้าจอ — Accounting ขอจ่าย (/finance), Finance ปล่อยเงิน (/disbursements) กันคนเดียวทั้งบันทึกและจ่าย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ไฟล์โอนธนาคารไทยพร้อมใช้ — SCB/KBank/BBL + ISO 20022 + SHA-256 พิสูจน์ไฟล์ = ที่อนุมัติ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credit hold บังคับถึงหน้าร้าน POS และ portal ด้วย threshold 90 วันเดียวกับ collections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453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8188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statement multi-currency เก็บ booked FX rate ต่อเอกสาร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/finance   /finance/customers   /disbursements   /finance/credit-hold   /advances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การเงิน · ลูกหนี้ &amp; เจ้าหนี้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บัญชีแยกประเภท · GL &amp; ปิดงวด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GL balanced-by-construction + Close Cockpit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แกน double-entry ledger ที่บาลานซ์โดยโครงสร้าง มี maker-checker บังคับแม้ Admin ปิดงวดด้วย Close Cockpit RAG board, flux analysis + disclosure checklist — ออกแบบให้ผ่านการตรวจ ICFR/SOX โดยตรง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Manual JE (GL-05)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posts เป็น Draft (ตัดออกจาก TB) จนคนละคนอนุมัติ, Σdebit=Σcredit, idempotent (tenant,source,ref,ledger)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งบการเงิน + Cash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TB/IS/BS + SCF ทั้ง indirect &amp; direct (reconcile Δcash by construction), forecast 13 สัปดาห์จาก AR/AP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Recurring &amp; Prepaid (GL-08/09)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template balanced, job posts Draft ผ่าน maker-checker; prepaid straight-line Dr expense/Cr 1280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Allocation cycles (GL-23)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ratio/driver/statistical → JE บาลานซ์เดียว, เศษไป target สุดท้าย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Chart of Accounts (GL-11/27)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canonical universe (shared) + tenant overlay (RLS), control-account guard, industry template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Posting rules/overrides (GL-24)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registry 74 events/125 roles, override → PendingApproval, pinned accounts แก้ไม่ได้, audit append-only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บัญชีแยกประเภท · GL &amp; ปิดงวด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บัญชีแยกประเภท · GL &amp; ปิดงวด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หลักฐาน ICFR สำเร็จรูป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GL-01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balanced · GL-02 period lockout · GL-04 idempotency · GL-05 manual-JE maker-checker (opening balances ก็ผ่าน — ปิด gap G4)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51586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REC-04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period-end control-account pack: AR↔1100, AP↔2000, Inventory↔1200, Gift cards↔2200 ในอ่านเดียว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5125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44855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GOV-01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pending-approvals monitor: worklist รวมทุกรายการรออนุมัติ + age + overdue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GL-22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Close Cockpit RAG · GL-25 Flux (บังคับคำอธิบาย + sign-off) · GL-26 Disclosure checklist (TFRS/IFRS/SEC)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opening balances ผ่าน maker-checker เดียวกัน — go-live posting ที่ material ที่สุดไม่ถูก seed คนเดียว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Close Cockpit = จอเดียว 'พร้อมปิดหรือยัง' RED/GREEN — ไม่ต้องเปิดหลายจอ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flux analysis บังคับคำอธิบาย + sign-off และ disclosure close binder — หลักฐาน ICFR พร้อมตรวจ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cash flow ทั้ง 3 งบ reconcile กับเงินสดจริง (ตัด year-end close journals ออก)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/accounting   /chart-of-accounts   /finance/close-cockpit   /close/flux   /close/disclosure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บัญชีแยกประเภท · GL &amp; ปิดงวด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MULTI-GAAP · งบรวม &amp; FX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Parallel ledger + งบรวม dual-rate + FX revaluation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สถาปัตยกรรม parallel-ledger (TFRS/TAX/IFRS) โพสต์ครั้งเดียวเข้าทุก ledger แต่ isolate adjustment; งบรวม HQ-only มี dual-rate FX translation + CTA/OCI + consolidated SCF; FX revaluation อัตโนมัติพร้อม auto-reversal — รองรับ multi-GAAP และ group reporting ระดับ IFRS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Parallel ledgers (GAAP-01..04)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TFRS (statutory) / TAX (สรรพากร) / IFRS (group); shared entry → ทุก ledger, adjustment → ledger เดียว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gaap-comparison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base TFRS vs TAX — shared entries cancel เหลือ diff จริง ป้อน deferred tax + ภ.ง.ด.50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Intercompany (IC-01..04)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HQ-only, 2 legs Due-From 1150/Due-To 2150, settlement over-pay guard, reconciliation eliminate flag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Consolidation (CON-03..05)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entity ownership-weighted + NCI 3300 + elimination, balanced-TB assertion (rollback ถ้าไม่บาลานซ์)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Dual-rate translation (CON-05)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P&amp;L @ average, BS @ closing → CTA เข้า OCI 3400 (IAS 21) + consolidated SCF (IAS 7)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FX revaluation (FX-01..04)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unrealized บน open non-THB AR/AP, JE + 5400 FX G/L, auto-reverse วันที่ 1 เดือนถัดไป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Multi-GAAP · งบรวม &amp; FX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MULTI-GAAP · งบรวม &amp; FX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งบรวมข้ามสกุลระดับ IFRS ที่บาลานซ์เสมอ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GAAP-02/GL-05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adjustment maker-checker; GAAP-04 per-ledger close (lock เฉพาะ LEADING)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IC-01/R01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HQ-only gate; CONS-02/R07 run ต้อง approvals ≠ initiator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CON-03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elimination integrity + post maker-checker (CONSOL_UNBALANCED → rollback); REC-03 IC-recon sign-off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882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18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FX-04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rate maker-checker: manual rate = PendingApproval ใช้ไม่ได้จนอนุมัติ (กัน fat-finger 36→63)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โพสต์ครั้งเดียว GAAP หลายเล่ม — TFRS/TAX/IFRS แยกเฉพาะ adjustment, book-tax difference วัดสะอาด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dual-rate translation + CTA/OCI + consolidated SCF ตาม IAS 21/IAS 7 — งบรวมข้ามสกุลระดับ IFRS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งบรวม rollback ถ้า TB ไม่บาลานซ์ — eliminations เงียบ ๆ ทำ group ไม่บาลานซ์ไม่ได้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FX rate ผิดโพสต์ไม่ได้ — Approved-only ป้องกัน revalue ที่ทำ earnings/equity ผิด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/consolidation   /intercompany   /fx   /ic-reconciliation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Multi-GAAP · งบรวม &amp; FX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รับรู้รายได้ · TFRS/IFRS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รับรู้รายได้ 5 ขั้นตอนเต็มรูปแบบ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engine รับรู้รายได้ TFRS 15/IFRS 15 five-step เต็มรูปแบบ ครอบคลุม contract asset/liability, progress/milestone billing, variable consideration + constraint, contract modifications, financing component และ disclosure pack — ทุกดุลพินิจฝ่ายบริหารเป็น maker-checker artifact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Five-step engine (REV-19)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contract → performance obligations (SSP) → allocate → recognize, postings ผ่าน LedgerService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Contract asset vs liability (REV-24)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แยก billing จาก recognition, ล้ำ = asset 1265, milestone maker-checker (SOD_SELF_BILLING)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Variable consideration (REV-25)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expected-value/most-likely + constraint, maker-checker → re-estimate → cumulative catch-up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Contract modifications (REV-26)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classify separate/prospective/cumulative-catchup — classification คือ control, maker-checker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Financing component (REV-27)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discount to PV, EIR interest unwind, maker-checker discount-rate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Disclosure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contract-liability rollforward + RPO/backlog (BI report), reconcile GL 2410/1265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รับรู้รายได้ · TFRS/IFRS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รับรู้รายได้ · TFRS/IFRS 15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ดุลพินิจฝ่ายบริหารทุกจุด = maker-checker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REVREC-01..04 defer/split/period-scope/classify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0175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5351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REV-24/25/26/27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ทุกตัว maker-checker (SOD_SELF_BILLING/SOD_SELF_APPROVAL) — estimate ที่ pending ขับรายได้ไม่ได้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REC-01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deferred-revenue tie-out; GL-01 balanced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TFRS 15 ครบทั้ง 5 waves — asset/liability split, variable + constraint, 3-way modification, financing (EIR), §120 disclosure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5158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contract-asset reclass ties by construction (Σ 1265 = Σ recognized − Σ billed)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ดุลพินิจฝ่ายบริหารทุกจุดเป็น maker-checker — auditor-friendly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disclosure rollforward สร้างใหม่จาก GL journal lines — reconcile by construction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/revenue   /api/revenue/contracts   /api/revenue/disclosure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รับรู้รายได้ · TFRS/IFRS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สินทรัพย์ถาวร · LEASES &amp; 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สินทรัพย์ครบวงจร + IFRS 16 + deferred 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วงจรสินทรัพย์เต็มรูป — capitalize จาก GR, depreciation, revaluation/impairment, disposal — พร้อม IFRS 16 lease accounting (lessee + lessor), EAM work orders, parallel tax-depreciation book ป้อน deferred tax และ QR audit-by-scan ทุก posting เป็น maker-checker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ทะเบียน &amp; capitalize (FA-10)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category defaults, capital line จาก GR ตัดออกจาก inventory → request → อนุมัติ → asset + traceability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Depreciation (FA-02)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monthly run idempotent ต่อ (tenant:period), หนึ่ง DEP- ต่อ tenant, cap ที่ NBV−salvage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Revaluation/impairment (FA-07)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up Dr 1500/Cr 3200 surplus, disposal recycle surplus Dr 3200/Cr 3100 ตรงเข้า 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Leases lessee &amp; lessor (LSE-01/02)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IFRS 16: ROU 1600/liability 2600 @ PV, interest+payment+dep, liability tie-out banner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EAM work orders (FA-06)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MWO- corrective/preventive, cost → AP Dr 5710, PM schedules, reliability KPI (MTBF)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Deferred tax (TAX-06)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parallel tax book (Thai caps, memo-only) → DTA/DTL Dr 1700/Cr 5950 delta, maker-checker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สินทรัพย์ถาวร · Leases &amp; 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สินทรัพย์ถาวร · LEASES &amp; EAM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IFRS 16 ทั้ง lessee &amp; lessor + tax book 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FA-01..13 life guard, balanced, idempotency, salvage cap, maker-checker บน capitalize/disposal/revaluation/custody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R07 initiate ≠ approve; R05 gl_post ≠ gl_close; EXP-05 WO→AP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TAX-06/FIN-6a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deferred tax maker-checker; LSE-01/LSE-02 lease tie-outs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IFRS 16 ทั้งฝั่ง lessee และ lessor พร้อม lease-liability tie-out banner ที่หน้าจอ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1409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parallel tax-depreciation book ป้อน deferred tax จาก difference จริง — ไม่ต้อง manual adjustment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0736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capitalize จาก GR ด้วย traceability PR→PO→GR→FA + capital line ตัดออกจาก inventory อัตโนมัติ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QR audit-by-scan + BI existence-exception (FA-12) — detective control สำหรับ physical existence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/assets   /leases   /eam   /deferred-tax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สินทรัพย์ถาวร · Leases &amp; 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ภาษี · VAT/WHT/E-TAX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ชุดภาษีไทยครบ + e-Tax UBL 2.1 + XAdES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0344" y="749808"/>
            <a:ext cx="192024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10344" y="73152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THAI-LEGAL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ชุดภาษีไทยครบวงจร — VAT 7% output/input, WHT + ภ.ง.ด., ใบกำกับภาษีตาม ม.86/4, e-Tax UBL 2.1 + XAdES digital signature, ภ.พ.30/36, ภ.ธ.40 และ income-tax provision + ETR (ASC 740/IAS 12) — ทุกภาษี reconcile กับ GL ก่อนยื่น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Rate config (TAX-01)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TaxProvider ต่อประเทศ (TH 7%, SG GST 9%, MY SST 6%) — ไม่มี hard-coded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ใบกำกับภาษี ม.86/4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เลข gapless monthly atomic, void เก็บเลขไม่ reuse + exception report, ABB→full conversion (TAX-10)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e-Tax (TAX-02)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ETDA UBL 2.1 XML + XAdES enveloped signature (RSA-SHA256), PDF/A-3 ฝัง XML, idempotent, durability retry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CN/DN + reverse-charge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ม.86/10, ภ.พ.36 reverse-charge (ม.83/6) Dr 1300/Cr 2120, ภ.ธ.40 SBT 3.3%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WHT (TAX-03)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คำนวณ + 50-ทวิ อัตโนมัติ, ภ.ง.ด.3/53 transfer file (TIS-620, พ.ศ., เงื่อนไข)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Provision + ETR (TAX-11)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pretax→M-1→temporary→CIT 20%, ETR reconciliation by construction, maker-checker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ภาษี · VAT/WHT/e-Tax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ภาษี · VAT/WHT/E-TAX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ยื่นสรรพากรได้จริง โดยไม่แก้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TAX-01..11 · REV-10 auto VAT · TAX-07 CN/DN maker-checker · TAX-06/11 provision maker-checker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ทุก return reconcile GL ก่อนยื่น (tie verdict): ภ.พ.30 net = output − input vs GL 2100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ใบกำกับ void เก็บเลข + exception report (G16); ABB→full idempotent (นับครั้งเดียวใน ภ.พ.30)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e-Tax UBL 2.1 + XAdES signature + PDF/A-3 — tamper-evident, ยื่น ETDA ได้จริง, submission ไม่หายแม้ SP ล่ม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ครอบคลุมภาษีไทยครบ: VAT (ภ.พ.30), reverse-charge (ภ.พ.36), SBT (ภ.ธ.40), WHT (ภ.ง.ด.) — reconcile GL ทุกตัว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RD transfer file: TIS-620 + วันที่ พ.ศ. + เงื่อนไข — ยื่น e-filing โดยไม่แก้ encoding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Income-tax provision + ETR reconciliation (ASC 740/IAS 12) reuse deferred-tax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/tax/invoices   /tax/wht   /tax/reports   /tax/provision   /einvoice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ภาษี · VAT/WHT/e-Tax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49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เทรเชอรี · เงินสด &amp; ตราสาร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เทรเชอรี + financial instruments IFRS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ศูนย์ควบคุมสภาพคล่องและตราสารการเงิน — POS till, safe-drop→bank deposit, bank reconciliation, Cash Command 13-week forecast และ financial-instruments register ตาม IFRS 9/TFRS 9 (debt, investments, hedging, cash pooling) ครบ EIR amortized-cost + OCI + hedge effectiveness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Till &amp; cash banking (REC-05)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open float→close variance Z-report, safe drop→bank deposit Dr 1010, undeposited-drops =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Bank reconciliation (REC-02)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import CSV/XLSX (Thai/Eng, พ.ศ.), shared match-engine, fee/interest = Draft จนอนุมัติ, certifier ≠ preparer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Cash Command (TR-01)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GL cash position + 13-week forecast + liquidity trough + KPI ratio + FX exposure ในจอเดียว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Debt &amp; borrowings (TRE-01/02)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facility maker-checker → drawdown → EIR interest accrual → repay, covenant tracking + breach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Investments (TRE-03)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classify AMORTIZED_COST/FVOCI/FVTPL, MTM Approved-only, FVOCI→OCI 3500, ECL impairment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Hedge accounting (TRE-04)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designation + effectiveness testing, ไม่มี OCI accounting จน Approved AND effective, cash-flow hedge OCI 3550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เทรเชอรี · เงินสด &amp; ตราสาร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เทรเชอรี · เงินสด &amp; ตราสาร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ตราสารการเงินครบ IFRS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REV-13/REC-05/REC-02/BANK-02/POS-08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cash &amp; bank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0175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5351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TR-01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cash command; TRE-01..05 ทุกตัว maker-checker (creator ≠ approver, R23 treasury ≠ treasury_approve)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9502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862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GL-05/GL-24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postings ผ่าน ledger period-lock; G9 bank-account creation maker-checker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financial-instruments register ครบ IFRS 9 — debt (EIR), investments (3-classification + OCI/P&amp;L), hedge (effectiveness gate), pooling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579875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51586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match-engine เดียวใช้ทั้ง GL bank rec และ PromptPay store rec — score เหมือนกัน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13-week direct cash forecast + liquidity trough + FX exposure ในจอเดียว (TR-01)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IC-loan + interest eliminate on consolidation — group นับ finance cost/income เป็นศูนย์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/finance/treasury   /bank   /reconciliation   /cash-banking   /financial-health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เทรเชอรี · เงินสด &amp; ตราสาร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บุคลากร · 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HCM ครบ — จาก recruiting ถึง ESS บนตัวตนเดียว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HCM ครบชุดบนตัวตนพนักงานเดียว (emp_code) — org structure, positions &amp; headcount governance, recruiting/ATS, onboarding/offboarding, comp bands &amp; benefits, training &amp; certifications, performance และ ESS ทุก approval เป็น maker-checker (approver ≠ subject) ทุกตาราง RLS + PDPA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Org &amp; positions (HR-01)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department hierarchy + cost center, budgeted positions + headcount, org chart budgeted-vs-filled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Recruiting/ATS (HR-04)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job requisitions, candidate pool, pipeline applied→hired, offer → แปลงเป็น employee จริง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Onboarding/offboarding (HR-05)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checklist templates, access-revocation completeness gate (joiner-mover-leaver)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Comp bands &amp; benefits (HR-06)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pay-grade band [min,mid,max], comp change within-band maker-checker, benefit enrollments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Training &amp; certs (HR-07)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course catalogue (mandatory/validity), certification auto-mint + expiry, detective compliance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ESS (HR-08)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แก้ข้อมูลตัวเอง — ฟิลด์อ่อนไหว (bank/national_id) park รอ HR, contact แก้ทันที, team directory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บุคลากร · HCM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บุคลากร · HCM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headcount เกินจากภายในไม่ได้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HR-01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headcount governance: hire เกิน budgeted → HEADCOUNT_EXCEEDED (403), exec override audit-logged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HR-03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performance sign-off SoD (SOD_SELF_REVIEW); HR-04 recruiting SoD; HR-06 comp within-band + maker-checker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611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HR-05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offboarding access-revocation gate (ACCESS_REVOCATION_INCOMPLETE); HR-08 ESS profile maker-checker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ITGC-AC-19 PII (national_id/bank) AES-256-GCM at rest; tiers hr/hr_admin/ess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headcount เกินจากภายในไม่ได้ — ทุก hire เกินอัตราเป็นการตัดสินใจ exec ที่ audit-logged, ปิดช่อง budget-creep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offboarding gate = SOX joiner-mover-leaver จริง — access ต้องถูกลบพิสูจน์ได้ (หรือ exec waive) ก่อนปิด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certifications auto-mint + expiry + supersede — credential หมดอายุพลาดไม่ได้ (detective report)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พนักงานเปลี่ยนบัญชีรับเงินตัวเองเงียบไม่ได้ — park รอ HR อนุมัติ, contact edit ทันที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/hcm/org   /hcm/recruiting   /hcm/onboarding   /hcm/comp   /hcm/training   /hcm/ess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บุคลากร · HCM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เจาะลึก · PAYROLL &amp; TIME-LABOR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เงินเดือนไทยครบกฎหมาย + maker-checker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Payroll engine ไทย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PAY-01 gross-to-net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ประกันสังคม 5% cap 750, PIT ก้าวหน้า, PF — unit-tested ไม่มี ad-hoc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PAY-02 statutory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ภ.ง.ด.1/1ก, payroll-liability schedule (SSO 2350/WHT 2360/PF 2370) reconcile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PAY-06 payslip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PDF พิมพ์/อีเมล, mask เลขบัตร 4 ตัวท้าย, PDPA-scoped (ดูของตัวเองเท่านั้น)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55686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49554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Async runs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10k คน off-thread (background_jobs), idempotent ต่อ (tenant,period)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783080"/>
            <a:ext cx="5349240" cy="44805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783080"/>
            <a:ext cx="5349240" cy="658368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1956816"/>
            <a:ext cx="384048" cy="384048"/>
          </a:xfrm>
          <a:prstGeom prst="roundRect">
            <a:avLst>
              <a:gd name="adj" fmla="val 24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9385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1938528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PAY-03 maker-checker &amp;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27706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จ่ายเงินตัวเองไม่ได้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run posts เป็น Draft JE (ตัดออกจากยอด), self-approve = SOD_VIOLATION ผูกแม้ Admin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7033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63016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PAY-04/05 OT rules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tiered OT บน พ.ร.บ.คุ้มครองแรงงาน (1.5×/2×/3×), labor % of sales alert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74536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562856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Anti buddy-punch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clock-in PIN/QR/FACE, block ซ้ำ 15 นาที, GPS geofence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3812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30809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ผูก GL + filing  </a:t>
            </a:r>
            <a:r>
              <a:rPr sz="11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liability schedule reconcile GL accrual vs payrun aggregate อิสระ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โครงการ · PPM &amp; PMO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PPM/PMO ระดับโลก + วัสดุก่อสร้างครบลูป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แพลตฟอร์ม PPM/PMO ระดับ world-class บนแกน projects + CRM-pipeline — opportunity ชนะ → แปลงเป็นโครงการ, WBS/Gantt, rate card, EVM, baseline, risk register, PMO action center สด และลูปควบคุมวัสดุก่อสร้าง (BoQ→commitment budget→requisition→issue-to-WIP) พร้อม 23 project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Portfolio command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CPI/SPI health, on-track vs at-risk, contract/billed/WIP/margin, capacity heatmap, forward cash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PMO Action Center (PROJ-11)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worklist 'อะไรต้องการฉันตอนนี้' จัดอันดับ severity, push ผ่าน SSE (BiLive) ทันทีที่ drift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Resources &amp;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rate card effective-dated (PROJ-05), capacity calendar, supply-vs-demand heatmap (PROJ-20), leveling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EVM &amp; schedule (PROJ-06)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BAC/PV/EV/AC→CPI/SPI/EAC, earned schedule SPI(t), CPM critical-path, FS/SS/FF/SF + lag/lead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Baselines/RACI/risk (PROJ-07/08)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baseline change-control, WBS templates, RACI gap detection, risk register (P×I 1-25)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วัสดุ &amp; shop-for-project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BoQ maker-checker, commitment budget FOR UPDATE (BUDGET_EXCEEDED), PMR, issue-to-WIP (1260)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โครงการ · PPM &amp; PMO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โครงการ · PPM &amp; PMO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งบคุมได้จริง แบบ concurrency-safe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timesheet→labor SoD (ผูกแม้ Admin); PROJ-05 resource/rate governance; PROJ-06 EVM detective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PROJ-07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baseline change control; PROJ-08 unmitigated high-risk detective; PROJ-11 action-center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6110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PROJ-12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commitment budget enforcement (FOR UPDATE); PROJ-13 PMR over-budget approval; PROJ-15 BoQ scope-change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1937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PROJ-09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POC rev-rec; PROJ-10 change-order maker-checker; INV-13 issue-to-project; CRM-WL opp→project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PMO Action Center สด push exceptions ผ่าน SSE — โครงการแดง/risk ไม่มี mitigation ปลุก inbox ทันที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 concurrency-safe — BoQ commitment lock บรรทัด, 2 PO พร้อมกัน overrun ไม่ได้, PO ทั้งใบ rollback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Earned Schedule SPI(t) ที่ยังซื่อสัตย์ปลายโครงการ (ที่ SPI ปกติ drift กลับ 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'Shop for this project' สไตล์ Shopee — ช่างซื้อเฉพาะ BoQ ที่อนุมัติ ผ่าน PMR ที่คุมได้ ซื้อนอกงบไม่ได้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/projects/portfolio   /projects/action-center   /projects/{code}   /projects/resources   /shop/project/{code}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โครงการ · PPM &amp; PMO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อสังหา &amp; ก่อสร้าง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ผู้รับเหมา + Developer: ประมูล→งวดงาน→โอนกรรมสิทธิ์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2952" y="749808"/>
            <a:ext cx="162763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2952" y="731520"/>
            <a:ext cx="1627632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VERTICAL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vertical ผู้รับเหมา + developer บนแกน PPM/P2P/AR/AP — ประมูลก่อนได้งาน, progress billing (งวดงาน) + retention, subcontractor และ property developer (units→booking→สัญญาขาย→ผ่อน→โอนกรรมสิทธิ์) พร้อม VAT/WHT ไทยและการรับรู้รายได้ถูกต้อง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Units &amp; availability (RE-01)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development ของ unit (คอนโด/บ้าน/ที่ดิน), status available→reserved→contracted→transferred, ห้ามขายซ้ำ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ประมูล→ได้งาน (PROJ-18)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bid estimate + markup %, ประเมิน→ยื่นซอง→ชนะ, award คลิกเดียว → project + BoQ ร่างจาก estimate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งวดงาน (PROJ-16)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value ต่อ BoQ line % สะสม (บิลเฉพาะส่วนเพิ่ม, cap 100%), certify maker-checker, output VAT 7% + retention 1170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Subcontracts (PROJ-17)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commitment บน BoQ, valuation % สะสม, certifier อิสระ → AP + retention 2440 + input VAT + WHT 3% (ภ.ง.ด.53)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สัญญาขาย (RE-02)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ราคา = list − ส่วนลด, ดาวน์, ผ่อน, drafts ไม่โพสต์, approver อิสระ (re_contract_approve) → contract liability 2410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โอนกรรมสิทธิ์ (RE-04)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authorised + จ่ายครบเท่านั้น, idempotent, defer 2410 → revenue 4200, relieve construction cost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อสังหา &amp; ก่อสร้าง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อสังหา &amp; ก่อสร้าง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ภาษีก่อสร้างไทยถูกต้อง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unit-inventory integrity (ห้าม double-book/contract); RE-02 สัญญาขาย maker-checker (R19)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RE-03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ผ่อน pay-once/exact/idempotent; RE-04 transfer revenue recognition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PROJ-16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progress-claim certification (R17); PROJ-17 subcontract valuation (R18); PROJ-18 tender→award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0063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permission-gated: re_sales/re_contract_approve/re_transfer/proj_billing/proj_subcon — บริษัทไม่ใช่อสังหาไม่เห็น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bid ที่ชนะกลายเป็นงบโครงการในคลิกเดียว — award seed project + BoQ ร่างจาก estimate ที่ตั้งราคาไว้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ภาษีก่อสร้างไทยครบ end-to-end — output VAT 7%, input VAT + WHT 3% (ภ.ง.ด.53), retention รับ/จ่าย tranche release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งวดงานที่ over-certify ไม่ได้ — BoQ-line สะสม บิลเฉพาะส่วนเพิ่ม cap 100%/line + certifier อิสระ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unit ขายซ้ำไม่ได้ — status machine re-check ตอนอนุมัติสัญญา, เงินอยู่ contract liability ไม่รับรู้รายได้จนโอน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/projects/tenders   /projects/billing   /projects/subcontracts   /realestate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อสังหา &amp; ก่อสร้าง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วางแผน · FP&amp;A &amp;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FP&amp;A + Demand ML ที่อธิบายได้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เลเยอร์ FP&amp;A/EPM ครบ — budget maker-checker, driver-based plan, three-way variance (Budget/Forecast/Actual), encumbrance gate บนจัดซื้อ, demand ML อธิบายได้หลายโมเดล และ segment profitability — variance เป็น detective control ชั้นหนึ่งเหนือ ledger ที่โพสต์แล้ว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Budgets (BUD-01)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upsert ต่อ fiscal_year+account+period+cost_center, annual → 12 เดือนอัตโนมัติ, pending ตัดออกจาก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Budget-vs-actual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actuals จาก posted JE เท่านั้น (IPE), material flag (≥1,000฿ และ ≥10%), review sign-off + note append-only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Budgetary control (BUD-02)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policy off/advise/warn/block gate PR/PO approval, block ต้อง exec override + reason (audited)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EPM plans (EPM-02)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version FSM Working→Baselined, scenarios, driver-based forecast จาก GL actuals, three-way variance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Demand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9 โมเดลคลาสสิกอธิบายได้ (SMA/SES/Holt/Croston/Thai-holiday/weather), walk-forward backtest WAPE/MASE auto-select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Profitability allocation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segment + allocation rules (driver-based), report profitability ต่อ segment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วางแผน · FP&amp;A &amp; Demand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59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วางแผน · FP&amp;A &amp; DEMAND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งบที่บังคับได้จริง ไม่ใช่แค่รายงาน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BUD-01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budget maker-checker (self-approve = SOD_VIOLATION, pending ตัดออกจาก variance)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2049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409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BUD-02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encumbrance gate (BUDGET_EXCEEDED, exec override + reason); EPM-01/02/03/04 version FSM + variance detective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ELC-06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management variance review sign-off; GL-05 maker-checker; GOV-01 pending monitor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งบบังคับได้จริง — พลิก policy จาก report-only เป็น block แล้ว PR/PO เกินงบถูกหยุดที่ approval (exec override + reason)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งบที่เอื้อตัวเองซ่อน overspend ไม่ได้ — งบ unapproved ตัดออกจาก variance, self-approve block แม้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demand ML อธิบายได้ audit-friendly — คลาสสิก (Croston + Thai-holiday + rain) + walk-forward WAPE/MASE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management variance review เก็บเป็นหลักฐาน — variance สำคัญต้อง sign-off note append-only (ELC-06)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/budget   /demand   /planning   /profitability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วางแผน · FP&amp;A &amp; Demand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BI · รายงาน &amp; วิเคราะห์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BI ที่ทุก KPI drill ลง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เลเยอร์ BI ที่คุมได้ — แปลง ledger + POS journal เป็น KPI/cube/scorecard/forecast ทุกตัวเลข reconcile กับต้นทาง (IPE), cache ต่อ tenant, self-serve/scheduled/streamed จาก KPI board บรรทัดเดียวถึง CFO Command Center และ query builder no-code บนสไปน์ permission+RLS เดียว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KPI board &amp; cubes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MTD/YTD sales, open AR/AP, weighted pipeline, sales cube click-through drill, finance trend multi-ledger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CFO Command Center (ELC-07)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~31 finance KPI 6 กลุ่ม + RAG + เทียบ prior/budget, drill ลง GL, trailing-12-month, MD&amp;A narrative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Query &amp; NL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semantic layer whitelist (measures × dimensions) — user input ไม่ถึง SQL, ถาม NL ไทย/อังกฤษ map ลง layer เดียวกัน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Scheduled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subscribe report + frequency + email/LINE, cron sweep multi-instance-safe, ~20 report types + action jobs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Live SSE (BiLive)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dashboard update สด, badge สด/ออฟไลน์, fallback 60s polling, auto-reconnect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Insights &amp;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anomaly (Z-score), replenishment ROP, restaurant menu-engineering matrix + affinity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BI · รายงาน &amp; วิเคราะห์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BI · รายงาน &amp; วิเคราะห์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ตัวเลขที่รีวิว = ตัวเลขทุกที่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BI-01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report reconcile ต้นทาง (IPE completeness/accuracy); BI-02 statutory PDF integrity; BI-03 parameter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BI-04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AI/forecast read-only advisory boundary; ELC-07 management analytical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R01/ITGC-01 permission + RLS ทุก endpoint (dashboard permission-filtered)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ทุก KPI drill ลง ledger — current-ratio แดงกางเป็น GL rows จริง, definition เดียวป้อน dashboard+pack+scorecard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NL question → governed query ไม่ใช่ raw SQL — NL และ point-and-click map ลง semantic layer เดียวกัน กันข้าม tenant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demand forecast 9 โมเดล self-select + Thai-holiday &amp; weather brain — อธิบายได้ ไม่ใช่กล่องดำ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live SSE dashboard + graceful degradation — streaming + fallback polling + badge Live/Offline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/finance/command-center   /query   /nl-analytics   /insights   /scheduled-reports   /restaurant-analytics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BI · รายงาน &amp; วิเคราะห์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AI · COPILOT &amp;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ที่ใช้ code path เดียวกับแอป — และแตะ GL ไม่ได้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เลเยอร์ LLM copilot ที่คุมได้ (Anthropic Claude) ต่อตรงกับ service layer เดียวกับ REST API — AI สืบทอด RBAC + tenant scope อัตโนมัติ อ่าน/แนะนำ/ยื่นข้อเสนอที่คนอนุมัติเท่านั้น ทำงานได้เมื่อไม่มี API key (offline-safe), redact PII ก่อนส่งออก และถูกกั้นจาก GL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Provider seam เดียว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จุดสร้าง Anthropic SDK จุดเดียว + injection hook ให้ scripted fake model ขับ agent loop จริงใน CI, model pinned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Agent loop = service เดียวกับ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~19 read tools RBAC-gated ต่อ user — tool อันตราย (void/adjust) ไม่ถึง assistant ทั่วไป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PDPA PII redaction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mask email/phone/เลขบัตร/ที่อยู่ ก่อนส่ง external model, opt-out ต่อบริษัท, prod ต้อง DPA acknowledged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Agentic write-ops (propose→approve)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propose JE/PO เข้า ai_action_requests (PENDING), คน (≠ proposer) ที่มีสิทธิ์อนุมัติ แล้วจึง execute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Copilot cite-or-refuse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ตอบเฉพาะจาก KB ของ tenant พร้อม citation หรือปฏิเสธ — ไม่มั่ว, KB_MIN_SCORE threshold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Doc-AI &amp; NL &amp; LINE copilot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แตกบิลเป็น AP draft, NL analytics, LINE copilot cost-routed + daily cap + confirm-first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AI · Copilot &amp;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AI · COPILOT &amp; AGENT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มองเห็น/ทำได้เท่าที่ผู้ใช้ทำได้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BI-04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AI read-only &amp; advisory boundary; AIG-01..04 scored ai-eval CI benchmark + DPA gate + honest labeling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SoD self-approval block บน agentic action (propose ≠ approve)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honest labeling: demand-ml เป็นสถิติคลาสสิก ไม่ใช่ ML; 'AI' = governed LLM copilot เท่านั้น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AI ใช้ code path เดียวกับแอป — ไม่มี surface un-authed แยก, ทุก tool call = service RBAC/tenant-scoped ที่คนกด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propose→approve→execute กำแพง SoD แข็ง — model ร่าง JE/PO ได้ แต่คนละคนที่มีสิทธิ์ต้องอนุมัติ ไม่มีทางแตะ ledger ตรง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cite-or-refuse RAG — ตอบเฉพาะจากเอกสาร tenant พร้อม citation หรือปฏิเสธ ไม่มั่ว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0703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0063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รันออฟไลน์ได้ + audit-clean — deterministic fallback + scripted-LLM CI benchmark คะแนนความถูกต้องโดยไม่ต้อง API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/assistant   /copilot   /ai-actions   /doc-ai   /nl-analytics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AI · Copilot &amp;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30000"/>
            </a:avLst>
          </a:prstGeom>
          <a:noFill/>
          <a:ln w="2032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STUDIO · NO-CODE CUSTOMIZATION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8595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ปรับ ERP ให้เข้าธุรกิจ โดยไม่ต้องเขียนโค้ด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10872216" cy="877824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73152" cy="87782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บทบาท  </a:t>
            </a:r>
            <a:r>
              <a:rPr sz="125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'Studio' no-code ~24 ความสามารถ ให้ tenant ปรับ ERP เข้าธุรกิจโดยไม่ต้องมี developer — custom fields, custom objects, form layouts, workflow/alert/automation builder, document templates, white-label theme, feature flags และคุมเมนู/โมดูลต่อบริษัท ทุกอย่าง RLS-isolated, permission-gated, audit-logged และโพสต์ GL ไม่ได้ (ยืนยันด้วย ext harness 280+ เช็ก)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 fields &amp; 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ฟิลด์ typed no-code บนทุก entity + สร้าง record type ใหม่ ('custom app') โดยไม่ต้องมีโมดูล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8095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7551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7551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Object/form layouts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7551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section, 1/2 คอลัมน์, จัดลำดับ/ซ่อน, ต่อ role — resolve กับ field defs สด, ฟิลด์ใหม่โผล่อัตโนมัติ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7824" y="2697480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7280" y="2916936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0" y="3063240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Workflow/alert/automation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7280" y="3520440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approval หลายชั้น + SLA/escalation, alert rule metric, automation when-event-then-action (non-GL, logged)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Document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designer receipt/quotation/PO/payslip + ใบกำกับ ม.86/4 &amp; ม.86/6 — เปลี่ยนยอด/ลบฟิลด์บังคับไม่ได้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095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97551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7551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White-label &amp; flags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1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brand ทั้งแอป (สี/โลโก้), feature flags/Labs ต่อ tenant, per-tenant menu/module control (403 MODULE_DISABLED)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7824" y="4599432"/>
            <a:ext cx="3681983" cy="1664207"/>
          </a:xfrm>
          <a:prstGeom prst="roundRect">
            <a:avLst>
              <a:gd name="adj" fmla="val 9000"/>
            </a:avLst>
          </a:prstGeom>
          <a:solidFill>
            <a:srgbClr val="141D38"/>
          </a:solidFill>
          <a:ln w="7620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17280" y="4818888"/>
            <a:ext cx="256032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7280" y="4965192"/>
            <a:ext cx="327050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8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AI config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280" y="5422392"/>
            <a:ext cx="3270503" cy="749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อธิบาย object/alert/automation เป็นภาษาธรรมชาติ → ได้ config JSON ให้รีวิวก่อน apply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Studio · No-code Customization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STUDIO · NO-CODE CUSTOMIZATION  ·  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ปรับได้อิสระ แต่ปลอดภัยต่อ auditor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⛨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การควบคุม &amp; แบ่งแยกหน้าที่ (SoD)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3957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ไม่มี numbered RCM ใหม่ (operational) แต่ตอกย้ำ ITGC-AC-03 (RLS), AC-02 (permission), AC-10 (audit)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284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MDM-02  </a:t>
            </a: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bulk-import validation; AC-04 secrets AES-256-GCM at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1376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7365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ext harness ยืนยันต่อ feature: no GL impact, tenant isolation, least privilege, docs-as-done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37360"/>
            <a:ext cx="5349240" cy="3794760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53492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★ </a:t>
            </a:r>
            <a:r>
              <a:rPr sz="13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จุดเด่นที่เหนือคู่แข่ง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4536" y="24597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3957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สร้าง custom app ทั้งตัวโดยไม่เขียนโค้ด — นิยาม object + typed fields + form layout ต่อ role + เก็บ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392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284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document template auditor-safe by construction — restyle ใบกำกับได้ แต่ฟิลด์บังคับ ม.86/4-86/6 ถูกคงไว้, ยอดแก้ไม่ได้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4325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2611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ผ่าตัด sidebar/module ต่อ tenant — ซ่อนเมนู, จัดลำดับ, ปิดทั้งโมดูล (API-enforced) โดยไม่กระทบ tenant อื่น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5257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51937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AI ร่าง config ได้ — อธิบาย alert/object/automation เป็นภาษาธรรมชาติ ได้ JSON พร้อม apply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1B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6928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หน้าจอหลัก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69280"/>
            <a:ext cx="9144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/custom-fields   /custom-objects   /object-layouts   /workflow   /automation   /document-templates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Studio · No-code Customization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เจาะลึก · แพลตฟอร์ม &amp; ระบบนิเวศ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God Console · Integrations · Customer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control plane SaaS หลายบริษัท + API/webhook/SSO + พอร์ทัลลูกค้า — provisioning god-only (fail-closed), API scope-gated, ทุกอย่าง RLS-isolated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God Console (/platform)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provision/suspend/act-as, onboarding, cross-company SaaS KPI (MRR/ARR/churn), hash-chain audit feed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4191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191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0224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0224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152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Provisioning atomic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8511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ทรานแซกชันเดียว: tenant + Admin + trial + 12 open periods + industry COA, โพสต์ได้ทันที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016" y="1965960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0016" y="1965960"/>
            <a:ext cx="82296" cy="20208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6048" y="22037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6048" y="21854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2976" y="21854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Act-as read-only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2752344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god inspect บริษัทใดก็ได้ mutation hard-block (READONLY_IMPERSONATION), audit-logged ทุก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Public API v1 + Dev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scope-gated (catalog/inventory/orders/invoices), rate-limited, RLS, OpenAPI 3.1 auto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4191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4191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40224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0224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7152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Webhooks &amp; SSO/SCIM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8511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outbound HMAC-SHA256 signed (5-min replay), OIDC PKCE + SCIM (deactivate ไม่ลบ), connector staged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0016" y="4242815"/>
            <a:ext cx="3669791" cy="20208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10016" y="4242815"/>
            <a:ext cx="82296" cy="20208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66048" y="44805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6048" y="44622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976" y="44622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Customer Portal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336" y="5029199"/>
            <a:ext cx="3166871" cy="11064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dashboard/POS/สต๊อก auto-reorder/track/EOD count/BoM/loyalty — mini-ERP แยก surface สะอาด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เจาะลึกแต่ละโมดูล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57200"/>
            <a:ext cx="1691640" cy="8868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-146304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D3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995927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สิ่งที่ควรรู้เพิ่มเติม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749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การนำไปใช้ · สถาปัตยกรรม · แพ็กเกจ · การรองรับ · ก้าวต่อไป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การนำไปใช้ &amp;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ออกแบบให้เริ่มใช้ได้เร็ว ด้วยการ provisioning แบบ atomic และเครื่องมือย้ายข้อมูลในตัว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Provisioning atomic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ทรานแซกชันเดียว: tenant + Admin + trial 14 วัน + 12 open periods + industry COA — โพสต์ได้ทันที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969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31470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Industry COA templates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restaurant/retail/distribution/services/general materialise ตอน signup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3085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48556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First-run checklist &amp; starter pack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แนะนำ setup ทีละขั้น + HQ branch idempotent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367528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ย้ายข้อมูล registry-driven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import/export CSV/xlsx ทุก entity, dry-run validate → preview → commit, per-row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Opening balances maker-checker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ยอดยกมา go-live ผ่าน GL-05 เดียวกัน — material ที่สุดไม่ถูก seed คนเดียว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Onboarding 3 ทาง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direct create / invite link / request-access queue — public signup ปิดใน prod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23367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Doc-sync policy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เอกสาร (narrative/user manual/UAT) อัปเดตพร้อมโค้ดเสมอ — เป็น first-class deliverable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5367528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Cutover runbook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มี runbook + control-test harness สำหรับ go-live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สถาปัตยกรรม · ความน่าเชื่อถือ · การปฏิบัติการ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Stack ทันสมัย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NestJS (Fastify) API + Next.js web + Drizzle ORM + PostgreSQL multi-tenant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Backup + restore drill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backup อัตโนมัติ + สคริปต์ restore ที่ทดสอบจริง (ITGC-OP-01)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DR/BCP มี RTO/RPO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data &lt;30 นาที RTO / 1 ชม. RPO, region &lt;4 ชม. (ITGC-OP-02)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Monitoring &amp; alerting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สัญญาณ always-on + Sentry/OTel, dead-letter alert + stuck-job reaper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CI gates เข้ม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typecheck + build + ~110 harness + golden-master + ratchets ก่อน merge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Idempotent by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posting ซ้ำไม่ double-post, atomic transaction ทุก multi-table mutation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69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เพิ่มเติม · 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แพ็กเกจ &amp; ความยืดหยุ่น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ระบบเป็นโมดูลาร์จริง — เปิด/ปิดโมดูล, feature flags, และปรับ surface ต่อบริษัทได้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Per-tenant module control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ปิด/เปิดทั้งโมดูลต่อบริษัท (API-enforced 403 MODULE_DISABLED) โดยไม่กระทบบริษัทอื่น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52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004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Feature flags / Labs tier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โมดูลใหม่เป็น LABS ปิดเป็น default เปิดเมื่อพร้อม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56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37413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Vertical packs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construction/real-estate, restaurant, retail — เปิดเฉพาะที่ใช้ (permission-gated, ไม่เห็นถ้าไม่มีสิทธิ์)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3754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29310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White-label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brand ทั้งแอป (สี/โลโก้/tagline) + document templates ต่อบริษัท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0794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99719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SaaS metrics ในตัว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MRR/ARR/ARPU/churn/plan mix — สำหรับ operator ที่ให้บริการต่อ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ระบบนิเวศ &amp; การเชื่อมต่อ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Public API v1 + Dev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scope-gated, rate-limited, RLS, OpenAPI 3.1 — BI tool อ่านเฉพาะ tenant ตน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Webhooks HMAC-signed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po.approved/rejected/alert.fired, 5-min replay window, secret เข้ารหัส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SSO + SCIM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OIDC (Azure AD/Okta/Google) PKCE + SCIM lifecycle, leaver deactivate ไม่ลบ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Messaging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LINE OA + email + SMS — alerts, scheduled reports, marketing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Delivery marketplaces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Grab/LINE MAN/Foodpanda/Robinhood — menu-sync + auto-86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Localization packs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หลายประเทศ CoA/tax/locale, e-invoice TH/MY/SG adapters (fail-closed honesty)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เอกสาร · การรองรับ · คุณภาพ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เอกสารเป็น first-class deliverable — เตรียมสำหรับการตรวจสอบ ISO/SOX และการใช้งานจริง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Process narratives 33 วงจร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ISO-style ต่อ cycle พร้อม Mermaid workflow + control matrix + revision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User manuals 20+ โมดูล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route, สิทธิ์ที่ต้องใช้, ขั้นตอน, control callout, troubleshooting/FAQ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159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233672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UAT + traceability matrix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test case positive + negative/control, ผูกกับ control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2349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152644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RCM + readiness plans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COSO ICFR plan, ISO 27001 gap, SOC 2 readiness, PDPA, PCI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65960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Honest control status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ระบุชัด 'Implemented ≠ externally attested' — โปร่งใสต่อ auditor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8211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099815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สองภาษา TH/EN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i18n framework จริง (th/en/ms/vi/id), per-user language picker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4101083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018787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In-app Control Console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auditor เปิด RCM catalogue + evidence ในตัวสินค้า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0200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937759"/>
            <a:ext cx="5102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Audit Viewer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อ่าน audit log + CSV export, RLS-scoped, filterable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ทำไมต้อง 'ตอนนี้' — ความพร้อมเชิงกลยุทธ์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ไม่ใช่แค่ระบบปฏิบัติงาน แต่เป็นสินทรัพย์เชิงกลยุทธ์สำหรับการเติบโตและการระดมทุน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3464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frameworks พร้อม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SOX · SOC 2 · ISO 27001 · PDPA จาก evidence base เดียว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730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627" y="2834640"/>
            <a:ext cx="457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90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NASDAQ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เตรียมเข้าตลาด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333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codebase ICFR-first, EGC timeline โปร่งใส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7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7" y="2834640"/>
            <a:ext cx="457200" cy="5486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7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GAAP ขนาน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TFRS · TAX · IFRS โพสต์ครั้งเดียว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5188" y="2468880"/>
            <a:ext cx="2674620" cy="2468880"/>
          </a:xfrm>
          <a:prstGeom prst="roundRect">
            <a:avLst>
              <a:gd name="adj" fmla="val 12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79508" y="2834640"/>
            <a:ext cx="457200" cy="54864"/>
          </a:xfrm>
          <a:prstGeom prst="rect">
            <a:avLst/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3788" y="3035808"/>
            <a:ext cx="22174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19" y="4041648"/>
            <a:ext cx="22174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การควบคุมทดสอบได้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1219" y="4370832"/>
            <a:ext cx="2217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98% controls มี ToE harness รันต่อเนื่อง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arabun"/>
                <a:ea typeface="Sarabun"/>
                <a:cs typeface="Sarabun"/>
              </a:rPr>
              <a:t>▎ </a:t>
            </a:r>
            <a:r>
              <a:rPr sz="1300" b="0" i="1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ควบคุมภายในที่แข็งแรงตั้งแต่วันแรก = ลดต้นทุน remediation, เร่งการตรวจสอบ, และเพิ่มมูลค่าองค์กร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สรุป: 6 เหตุผลที่ CFO/ผู้บริหารเลือกเรา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5DE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5DE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5DE09A"/>
                </a:solidFill>
                <a:latin typeface="Kanit"/>
                <a:ea typeface="Kanit"/>
                <a:cs typeface="Kani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พิสูจน์ได้ ไม่ใช่คำโฆษณา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282 controls, 98% ทดสอบอัตโนมัติ, 0 gap — ตัวเลข generated จากโค้ด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4191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4191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0224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0224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7152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แยกข้อมูลที่ปฏิเสธบูตถ้าเสี่ยง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511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multi-tenant RLS ระดับ DB + fail-closed — ปิดความปลอดภัยโดยบังเอิญไม่ได้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10016" y="1737360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0016" y="1737360"/>
            <a:ext cx="82296" cy="2135123"/>
          </a:xfrm>
          <a:prstGeom prst="roundRect">
            <a:avLst>
              <a:gd name="adj" fmla="val 0"/>
            </a:avLst>
          </a:prstGeom>
          <a:solidFill>
            <a:srgbClr val="F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6048" y="1975104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048" y="19568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B7A7A"/>
                </a:solidFill>
                <a:latin typeface="Kanit"/>
                <a:ea typeface="Kanit"/>
                <a:cs typeface="Kanit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2976" y="1956815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ผ่านการตรวจสอบภายนอก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336" y="2523744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22 findings ปิดครบ + pentest remediate re-verified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9B8CFF"/>
                </a:solidFill>
                <a:latin typeface="Kanit"/>
                <a:ea typeface="Kanit"/>
                <a:cs typeface="Kanit"/>
              </a:rPr>
              <a:t>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audit trail รอด PDPA erasure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hash-chain integrity + right-to-be-forgotten อยู่ด้วยกันได้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4191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84191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F5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0224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F5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0224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C766"/>
                </a:solidFill>
                <a:latin typeface="Kanit"/>
                <a:ea typeface="Kanit"/>
                <a:cs typeface="Kanit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7152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evidence เดียว 4 มาตรฐาน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8511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SOX + SOC 2 + ISO 27001 + PDPA — ลดต้นทุน compliance มหาศาล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0016" y="4128515"/>
            <a:ext cx="3669791" cy="2135123"/>
          </a:xfrm>
          <a:prstGeom prst="roundRect">
            <a:avLst>
              <a:gd name="adj" fmla="val 10000"/>
            </a:avLst>
          </a:prstGeom>
          <a:solidFill>
            <a:srgbClr val="141D38"/>
          </a:solidFill>
          <a:ln w="9525">
            <a:solidFill>
              <a:srgbClr val="2A3A63"/>
            </a:solidFill>
          </a:ln>
          <a:effectLst/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0016" y="4128515"/>
            <a:ext cx="82296" cy="2135123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66048" y="4366259"/>
            <a:ext cx="420624" cy="420624"/>
          </a:xfrm>
          <a:prstGeom prst="roundRect">
            <a:avLst>
              <a:gd name="adj" fmla="val 26000"/>
            </a:avLst>
          </a:prstGeom>
          <a:noFill/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048" y="43479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8BDF8"/>
                </a:solidFill>
                <a:latin typeface="Kanit"/>
                <a:ea typeface="Kanit"/>
                <a:cs typeface="Kanit"/>
              </a:rPr>
              <a:t>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4347971"/>
            <a:ext cx="26639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ซื่อสัตย์โดยออกแบบ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336" y="4914899"/>
            <a:ext cx="3166871" cy="12207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7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CI gate ห้าม overclaim — สิ่งที่ auditor เชื่อถือที่สุด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94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เพิ่มเติม · 6.8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สรุปภาพรวมทั้งหมด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= แพลตฟอร์มเดียวที่รวมการดำเนินงาน การเงิน และการควบคุมภายในระดับบริษัทมหาชน สำหรับธุรกิจไทยที่ต้องการเติบโตอย่างมั่นคง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ครบวงจร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POS + ERP + CRM + Loyalty + Portal บนแกนข้อมูลและสิทธิ์เดียว — ไม่มี sync ไม่มีรอยต่อ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52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0048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คุมแน่น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maker-checker ผูกแม้ Admin, 23 SoD rules, audit trail แก้ไม่ได้, 282 controls ทดสอบตัวเอง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56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374136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ไทยแท้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e-Tax XAdES, ภ.พ.30/36/ธ.40, PromptPay, LINE-native, พ.ศ./TIS-620 — ยื่นได้จริง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078224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มาตรฐานสากล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IFRS 9/15/16, multi-GAAP, งบรวม dual-rate, พร้อม ISO/SOC2/PDPA และเส้นทาง NASDAQ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646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782312"/>
            <a:ext cx="105887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ฉลาด &amp; ปรับได้  </a:t>
            </a:r>
            <a:r>
              <a:rPr sz="13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AI copilot กั้นจาก GL, BI drill ลง ledger, no-code Studio ปรับเข้าธุรกิจได้เอง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1672" cy="0"/>
          </a:xfrm>
          <a:prstGeom prst="bentConnector3">
            <a:avLst/>
          </a:prstGeom>
          <a:ln w="9525">
            <a:solidFill>
              <a:srgbClr val="2A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FB0D0"/>
                </a:solidFill>
                <a:latin typeface="Kanit"/>
                <a:ea typeface="Kanit"/>
                <a:cs typeface="Kanit"/>
              </a:rPr>
              <a:t>Invisible ERP</a:t>
            </a: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   ·   ระบบบริหารธุรกิจอัจฉริยะครบวงจร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CA0"/>
                </a:solidFill>
                <a:latin typeface="Sarabun"/>
                <a:ea typeface="Sarabun"/>
                <a:cs typeface="Sarabun"/>
              </a:rPr>
              <a:t>สิ่งที่ควรรู้เพิ่มเติม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75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41D3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isible-consultin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14400"/>
            <a:ext cx="2194560" cy="11504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2350008"/>
            <a:ext cx="256032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DD4BF"/>
                </a:solidFill>
                <a:latin typeface="Kanit"/>
                <a:ea typeface="Kanit"/>
                <a:cs typeface="Kanit"/>
              </a:rPr>
              <a:t>ก้าวต่อไปกับ INVISIBLE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4F7FF"/>
                </a:solidFill>
                <a:latin typeface="Kanit"/>
                <a:ea typeface="Kanit"/>
                <a:cs typeface="Kanit"/>
              </a:rPr>
              <a:t>พร้อมยกระดับธุรกิจของคุณ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Invisible ERP — ระบบที่ 'มองไม่เห็น' ความยุ่งยาก แต่ควบคุมทุกอย่างไว้แน่นหนา ให้คุณโฟกัสที่การเติบโต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669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212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นัดหมาย Demo:  </a:t>
            </a: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ทีมงาน Invisible ERP พร้อมสาธิตระบบจริงกับข้อมูลของคุณ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241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669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อีเมล:  </a:t>
            </a: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hello@invisible-erp.com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6181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9FB0D0"/>
                </a:solidFill>
                <a:latin typeface="Sarabun"/>
                <a:ea typeface="Sarabun"/>
                <a:cs typeface="Sarabun"/>
              </a:rPr>
              <a:t>เว็บไซต์:  </a:t>
            </a:r>
            <a:r>
              <a:rPr sz="1350" b="1" i="0">
                <a:solidFill>
                  <a:srgbClr val="F4F7FF"/>
                </a:solidFill>
                <a:latin typeface="Sarabun"/>
                <a:ea typeface="Sarabun"/>
                <a:cs typeface="Sarabun"/>
              </a:rPr>
              <a:t>www.invisible-erp.com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